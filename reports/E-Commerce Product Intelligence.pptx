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6256000" cy="9144000"/>
  <p:notesSz cx="9144000" cy="16256000"/>
  <p:embeddedFontLst>
    <p:embeddedFont>
      <p:font typeface="Oranienbaum" charset="-122" pitchFamily="34"/>
      <p:regular r:id="rId17"/>
    </p:embeddedFont>
    <p:embeddedFont>
      <p:font typeface="Liter" charset="-122" pitchFamily="34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Conversion Rate (%)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D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Display Ad</c:v>
                  </c:pt>
                  <c:pt idx="1">
                    <c:v>Paid Search</c:v>
                  </c:pt>
                  <c:pt idx="2">
                    <c:v>Email</c:v>
                  </c:pt>
                  <c:pt idx="3">
                    <c:v>Referral</c:v>
                  </c:pt>
                  <c:pt idx="4">
                    <c:v>Direct</c:v>
                  </c:pt>
                  <c:pt idx="5">
                    <c:v>Organic</c:v>
                  </c:pt>
                  <c:pt idx="6">
                    <c:v>Social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8.05</c:v>
                </c:pt>
                <c:pt idx="1">
                  <c:v>8.02</c:v>
                </c:pt>
                <c:pt idx="2">
                  <c:v>7.63</c:v>
                </c:pt>
                <c:pt idx="3">
                  <c:v>7.44</c:v>
                </c:pt>
                <c:pt idx="4">
                  <c:v>7.4</c:v>
                </c:pt>
                <c:pt idx="5">
                  <c:v>7.38</c:v>
                </c:pt>
                <c:pt idx="6">
                  <c:v>7.24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D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7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2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A1D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Electronics</c:v>
                  </c:pt>
                  <c:pt idx="1">
                    <c:v>Sports &amp; Outdoors</c:v>
                  </c:pt>
                  <c:pt idx="2">
                    <c:v>Home &amp; Kitchen</c:v>
                  </c:pt>
                  <c:pt idx="3">
                    <c:v>Clothing &amp; Acc.</c:v>
                  </c:pt>
                  <c:pt idx="4">
                    <c:v>Automotive</c:v>
                  </c:pt>
                  <c:pt idx="5">
                    <c:v>Books</c:v>
                  </c:pt>
                  <c:pt idx="6">
                    <c:v>Office Products</c:v>
                  </c:pt>
                  <c:pt idx="7">
                    <c:v>Beauty &amp; Care</c:v>
                  </c:pt>
                  <c:pt idx="8">
                    <c:v>Toys &amp; Games</c:v>
                  </c:pt>
                  <c:pt idx="9">
                    <c:v>Grocery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40316</c:v>
                </c:pt>
                <c:pt idx="1">
                  <c:v>21001</c:v>
                </c:pt>
                <c:pt idx="2">
                  <c:v>17713</c:v>
                </c:pt>
                <c:pt idx="3">
                  <c:v>15203</c:v>
                </c:pt>
                <c:pt idx="4">
                  <c:v>10657</c:v>
                </c:pt>
                <c:pt idx="5">
                  <c:v>6865</c:v>
                </c:pt>
                <c:pt idx="6">
                  <c:v>5638</c:v>
                </c:pt>
                <c:pt idx="7">
                  <c:v>5571</c:v>
                </c:pt>
                <c:pt idx="8">
                  <c:v>4292</c:v>
                </c:pt>
                <c:pt idx="9">
                  <c:v>2255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A1D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2"/>
              </a:solidFill>
              <a:prstDash val="dash"/>
              <a:round/>
            </a:ln>
          </c:spPr>
        </c:majorGridlines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Avg. Spend per Transaction ($)</c:v>
                </c:pt>
              </c:strCache>
            </c:strRef>
          </c:tx>
          <c:spPr>
            <a:solidFill>
              <a:srgbClr val="B87333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A1D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Very High</c:v>
                  </c:pt>
                  <c:pt idx="1">
                    <c:v>High</c:v>
                  </c:pt>
                  <c:pt idx="2">
                    <c:v>Medium</c:v>
                  </c:pt>
                  <c:pt idx="3">
                    <c:v>Low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196</c:v>
                </c:pt>
                <c:pt idx="1">
                  <c:v>142</c:v>
                </c:pt>
                <c:pt idx="2">
                  <c:v>89</c:v>
                </c:pt>
                <c:pt idx="3">
                  <c:v>28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A1D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2e2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Percentage (%)</c:v>
                </c:pt>
              </c:strCache>
            </c:strRef>
          </c:tx>
          <c:spPr>
            <a:solidFill>
              <a:srgbClr val="0D7377"/>
            </a:solidFill>
            <a:effectLst/>
          </c:spPr>
          <c:invertIfNegative val="0"/>
          <c:dLbls>
            <c:numFmt formatCode="0.0%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D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5-Star</c:v>
                  </c:pt>
                  <c:pt idx="1">
                    <c:v>4-Star</c:v>
                  </c:pt>
                  <c:pt idx="2">
                    <c:v>3-Star</c:v>
                  </c:pt>
                  <c:pt idx="3">
                    <c:v>2-Star</c:v>
                  </c:pt>
                  <c:pt idx="4">
                    <c:v>1-Star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51.5</c:v>
                </c:pt>
                <c:pt idx="1">
                  <c:v>22.8</c:v>
                </c:pt>
                <c:pt idx="2">
                  <c:v>12</c:v>
                </c:pt>
                <c:pt idx="3">
                  <c:v>8.2</c:v>
                </c:pt>
                <c:pt idx="4">
                  <c:v>5.5</c:v>
                </c:pt>
              </c:numCache>
            </c:numRef>
          </c:val>
        </c:ser>
        <c:dLbls>
          <c:numFmt formatCode="0.0%" sourceLinked="0"/>
          <c:txPr>
            <a:bodyPr/>
            <a:lstStyle/>
            <a:p>
              <a:pPr>
                <a:defRPr b="0" i="0" strike="noStrike" sz="1200" u="none">
                  <a:solidFill>
                    <a:srgbClr val="1A1D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F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2e2e2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6F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holarbrain.github.io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holarbrain.github.io" TargetMode="Externa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ddgir76id4kw/mnt/agents/output/ecommerce_report/images/cover_her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160000" cy="9144000"/>
          </a:xfrm>
          <a:prstGeom prst="rect">
            <a:avLst/>
          </a:prstGeom>
          <a:gradFill rotWithShape="1" flip="none">
            <a:gsLst>
              <a:gs pos="0">
                <a:srgbClr val="0F1419">
                  <a:alpha val="95000"/>
                </a:srgbClr>
              </a:gs>
              <a:gs pos="60000">
                <a:srgbClr val="0F1419">
                  <a:alpha val="80000"/>
                </a:srgbClr>
              </a:gs>
              <a:gs pos="100000">
                <a:srgbClr val="0F1419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16000" y="1016000"/>
            <a:ext cx="762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2"/>
          <p:cNvSpPr/>
          <p:nvPr/>
        </p:nvSpPr>
        <p:spPr>
          <a:xfrm>
            <a:off x="1016000" y="1524000"/>
            <a:ext cx="7620000" cy="273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10000"/>
              </a:lnSpc>
            </a:pPr>
            <a:r>
              <a:rPr lang="en-US" sz="5200" spc="600" kern="0" dirty="0">
                <a:solidFill>
                  <a:srgbClr val="F5F4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E-COMMERCE</a:t>
            </a:r>
            <a:endParaRPr lang="en-US" sz="5200" dirty="0"/>
          </a:p>
          <a:p>
            <a:pPr algn="l">
              <a:lnSpc>
                <a:spcPct val="110000"/>
              </a:lnSpc>
            </a:pPr>
            <a:r>
              <a:rPr lang="en-US" sz="5200" spc="600" kern="0" dirty="0">
                <a:solidFill>
                  <a:srgbClr val="F5F4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PRODUCT</a:t>
            </a:r>
            <a:endParaRPr lang="en-US" sz="5200" dirty="0"/>
          </a:p>
          <a:p>
            <a:pPr algn="l">
              <a:lnSpc>
                <a:spcPct val="110000"/>
              </a:lnSpc>
            </a:pPr>
            <a:r>
              <a:rPr lang="en-US" sz="5200" spc="600" kern="0" dirty="0">
                <a:solidFill>
                  <a:srgbClr val="F5F4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INTELLIGENCE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1016000" y="4318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20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End-to-End Data Analytics Project Report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016000" y="48895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3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 •  PYTHON  •  POWER BI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016000" y="5715000"/>
            <a:ext cx="2540000" cy="12700"/>
          </a:xfrm>
          <a:prstGeom prst="rect">
            <a:avLst/>
          </a:prstGeom>
          <a:solidFill>
            <a:srgbClr val="F5F4F2">
              <a:alpha val="25098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1016000" y="6032500"/>
            <a:ext cx="5080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80000"/>
              </a:lnSpc>
            </a:pPr>
            <a:r>
              <a:rPr lang="en-US" sz="14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Ismail Olamide Abdulrazaq (Holarbrain)</a:t>
            </a:r>
            <a:endParaRPr lang="en-US" sz="1400" dirty="0"/>
          </a:p>
          <a:p>
            <a:pPr algn="l">
              <a:lnSpc>
                <a:spcPct val="180000"/>
              </a:lnSpc>
            </a:pPr>
            <a:r>
              <a:rPr lang="en-US" sz="14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&amp; Analytics Professional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16000" y="7112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June 2026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16000" y="7493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u="sng" dirty="0">
                <a:solidFill>
                  <a:srgbClr val="0D7377"/>
                </a:solidFill>
                <a:uFill>
                  <a:solidFill>
                    <a:srgbClr val="0D7377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holarbrain.github.io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91440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3" name="Text 1"/>
          <p:cNvSpPr/>
          <p:nvPr/>
        </p:nvSpPr>
        <p:spPr>
          <a:xfrm>
            <a:off x="635000" y="1016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spc="600" kern="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35000" y="1524000"/>
            <a:ext cx="508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5" name="Text 3"/>
          <p:cNvSpPr/>
          <p:nvPr/>
        </p:nvSpPr>
        <p:spPr>
          <a:xfrm>
            <a:off x="635000" y="2032000"/>
            <a:ext cx="3556000" cy="1270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9600" dirty="0">
                <a:solidFill>
                  <a:srgbClr val="F5F4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9600" dirty="0"/>
          </a:p>
        </p:txBody>
      </p:sp>
      <p:sp>
        <p:nvSpPr>
          <p:cNvPr id="6" name="Text 4"/>
          <p:cNvSpPr/>
          <p:nvPr/>
        </p:nvSpPr>
        <p:spPr>
          <a:xfrm>
            <a:off x="635000" y="3810000"/>
            <a:ext cx="3556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5F4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Executive</a:t>
            </a:r>
            <a:endParaRPr lang="en-US" sz="3600" dirty="0"/>
          </a:p>
          <a:p>
            <a:pPr algn="l">
              <a:lnSpc>
                <a:spcPct val="120000"/>
              </a:lnSpc>
            </a:pPr>
            <a:r>
              <a:rPr lang="en-US" sz="3600" dirty="0">
                <a:solidFill>
                  <a:srgbClr val="F5F4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Overview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635000" y="5461000"/>
            <a:ext cx="355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comprehensive analysis of e-commerce data across 133K+ records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588000" y="101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6413500" y="1079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KPIs &amp; Headline Findings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588000" y="1841500"/>
            <a:ext cx="4191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1" name="Text 9"/>
          <p:cNvSpPr/>
          <p:nvPr/>
        </p:nvSpPr>
        <p:spPr>
          <a:xfrm>
            <a:off x="10414000" y="1016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1239500" y="1079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Scope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Architecture &amp; Toolchain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414000" y="1841500"/>
            <a:ext cx="4191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4" name="Text 12"/>
          <p:cNvSpPr/>
          <p:nvPr/>
        </p:nvSpPr>
        <p:spPr>
          <a:xfrm>
            <a:off x="5588000" y="247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13500" y="2540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Performance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 &amp; Product Analysis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588000" y="3302000"/>
            <a:ext cx="4191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000" y="2476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1239500" y="2540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Analysis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&amp; Efficiency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414000" y="3302000"/>
            <a:ext cx="4191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0" name="Text 18"/>
          <p:cNvSpPr/>
          <p:nvPr/>
        </p:nvSpPr>
        <p:spPr>
          <a:xfrm>
            <a:off x="5588000" y="393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6413500" y="4000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Abandonment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Cause Deep Dive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588000" y="4762500"/>
            <a:ext cx="4191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3" name="Text 21"/>
          <p:cNvSpPr/>
          <p:nvPr/>
        </p:nvSpPr>
        <p:spPr>
          <a:xfrm>
            <a:off x="10414000" y="39370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11239500" y="40005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Insights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Segmentation &amp; Loyalty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0414000" y="4762500"/>
            <a:ext cx="4191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6" name="Text 24"/>
          <p:cNvSpPr/>
          <p:nvPr/>
        </p:nvSpPr>
        <p:spPr>
          <a:xfrm>
            <a:off x="5588000" y="539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07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13500" y="5461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Dashboard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Delivery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588000" y="6223000"/>
            <a:ext cx="4191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9" name="Text 27"/>
          <p:cNvSpPr/>
          <p:nvPr/>
        </p:nvSpPr>
        <p:spPr>
          <a:xfrm>
            <a:off x="10414000" y="5397500"/>
            <a:ext cx="6985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ct val="120000"/>
              </a:lnSpc>
            </a:pPr>
            <a:r>
              <a:rPr lang="en-US" sz="32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08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11239500" y="5461000"/>
            <a:ext cx="3429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4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</a:t>
            </a:r>
            <a:endParaRPr lang="en-US" sz="1600" dirty="0"/>
          </a:p>
          <a:p>
            <a:pPr algn="l">
              <a:lnSpc>
                <a:spcPct val="14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Action Plan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10414000" y="6223000"/>
            <a:ext cx="4191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32" name="Shape 30"/>
          <p:cNvSpPr/>
          <p:nvPr/>
        </p:nvSpPr>
        <p:spPr>
          <a:xfrm>
            <a:off x="5588000" y="7874000"/>
            <a:ext cx="9652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02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Abandonment at </a:t>
            </a:r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73.25%</a:t>
            </a:r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is the #1 Revenue Leak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2921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160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04800" y="122515"/>
                </a:moveTo>
                <a:cubicBezTo>
                  <a:pt x="294731" y="128349"/>
                  <a:pt x="283165" y="133052"/>
                  <a:pt x="271122" y="136803"/>
                </a:cubicBezTo>
                <a:cubicBezTo>
                  <a:pt x="239146" y="146804"/>
                  <a:pt x="197168" y="152400"/>
                  <a:pt x="152400" y="152400"/>
                </a:cubicBezTo>
                <a:cubicBezTo>
                  <a:pt x="107632" y="152400"/>
                  <a:pt x="65586" y="146745"/>
                  <a:pt x="33678" y="136803"/>
                </a:cubicBezTo>
                <a:cubicBezTo>
                  <a:pt x="21703" y="133052"/>
                  <a:pt x="10069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68240" y="219075"/>
                  <a:pt x="152400" y="219075"/>
                </a:cubicBezTo>
                <a:cubicBezTo>
                  <a:pt x="236560" y="219075"/>
                  <a:pt x="304800" y="197763"/>
                  <a:pt x="304800" y="171450"/>
                </a:cubicBezTo>
                <a:lnTo>
                  <a:pt x="304800" y="122515"/>
                </a:lnTo>
                <a:close/>
                <a:moveTo>
                  <a:pt x="304800" y="76200"/>
                </a:moveTo>
                <a:lnTo>
                  <a:pt x="304800" y="47625"/>
                </a:lnTo>
                <a:cubicBezTo>
                  <a:pt x="304800" y="21312"/>
                  <a:pt x="236560" y="0"/>
                  <a:pt x="152400" y="0"/>
                </a:cubicBezTo>
                <a:cubicBezTo>
                  <a:pt x="6824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68240" y="123825"/>
                  <a:pt x="152400" y="123825"/>
                </a:cubicBezTo>
                <a:cubicBezTo>
                  <a:pt x="236560" y="123825"/>
                  <a:pt x="304800" y="102513"/>
                  <a:pt x="304800" y="76200"/>
                </a:cubicBezTo>
                <a:close/>
                <a:moveTo>
                  <a:pt x="271122" y="232053"/>
                </a:moveTo>
                <a:cubicBezTo>
                  <a:pt x="239214" y="241995"/>
                  <a:pt x="197236" y="247650"/>
                  <a:pt x="152400" y="247650"/>
                </a:cubicBezTo>
                <a:cubicBezTo>
                  <a:pt x="107564" y="247650"/>
                  <a:pt x="65586" y="241995"/>
                  <a:pt x="33678" y="232053"/>
                </a:cubicBezTo>
                <a:cubicBezTo>
                  <a:pt x="21703" y="228302"/>
                  <a:pt x="10069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68240" y="304800"/>
                  <a:pt x="152400" y="304800"/>
                </a:cubicBezTo>
                <a:cubicBezTo>
                  <a:pt x="236560" y="304800"/>
                  <a:pt x="304800" y="283488"/>
                  <a:pt x="304800" y="257175"/>
                </a:cubicBezTo>
                <a:lnTo>
                  <a:pt x="304800" y="217765"/>
                </a:lnTo>
                <a:cubicBezTo>
                  <a:pt x="294731" y="223599"/>
                  <a:pt x="283165" y="228302"/>
                  <a:pt x="271122" y="232053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1968500"/>
            <a:ext cx="254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133K+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1016000" y="2540000"/>
            <a:ext cx="254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Records Analyzed (6 Tables)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10000" y="1397000"/>
            <a:ext cx="2794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640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9540" y="14288"/>
                </a:moveTo>
                <a:cubicBezTo>
                  <a:pt x="129540" y="6370"/>
                  <a:pt x="139732" y="0"/>
                  <a:pt x="152400" y="0"/>
                </a:cubicBezTo>
                <a:cubicBezTo>
                  <a:pt x="165068" y="0"/>
                  <a:pt x="175260" y="6370"/>
                  <a:pt x="175260" y="14288"/>
                </a:cubicBezTo>
                <a:lnTo>
                  <a:pt x="175260" y="38100"/>
                </a:lnTo>
                <a:lnTo>
                  <a:pt x="228600" y="38100"/>
                </a:lnTo>
                <a:cubicBezTo>
                  <a:pt x="245459" y="38100"/>
                  <a:pt x="259080" y="46613"/>
                  <a:pt x="259080" y="57150"/>
                </a:cubicBezTo>
                <a:cubicBezTo>
                  <a:pt x="259080" y="67687"/>
                  <a:pt x="245459" y="76200"/>
                  <a:pt x="228600" y="76200"/>
                </a:cubicBezTo>
                <a:lnTo>
                  <a:pt x="119158" y="76200"/>
                </a:lnTo>
                <a:cubicBezTo>
                  <a:pt x="95441" y="76200"/>
                  <a:pt x="76200" y="88225"/>
                  <a:pt x="76200" y="103049"/>
                </a:cubicBezTo>
                <a:cubicBezTo>
                  <a:pt x="76200" y="116443"/>
                  <a:pt x="91916" y="127754"/>
                  <a:pt x="113062" y="129659"/>
                </a:cubicBezTo>
                <a:lnTo>
                  <a:pt x="200311" y="137458"/>
                </a:lnTo>
                <a:cubicBezTo>
                  <a:pt x="251555" y="142042"/>
                  <a:pt x="289560" y="169426"/>
                  <a:pt x="289560" y="201751"/>
                </a:cubicBezTo>
                <a:cubicBezTo>
                  <a:pt x="289560" y="237649"/>
                  <a:pt x="242983" y="266700"/>
                  <a:pt x="185642" y="266700"/>
                </a:cubicBezTo>
                <a:lnTo>
                  <a:pt x="175260" y="266700"/>
                </a:lnTo>
                <a:lnTo>
                  <a:pt x="175260" y="290513"/>
                </a:lnTo>
                <a:cubicBezTo>
                  <a:pt x="175260" y="298430"/>
                  <a:pt x="165068" y="304800"/>
                  <a:pt x="152400" y="304800"/>
                </a:cubicBezTo>
                <a:cubicBezTo>
                  <a:pt x="139732" y="304800"/>
                  <a:pt x="129540" y="298430"/>
                  <a:pt x="129540" y="290513"/>
                </a:cubicBezTo>
                <a:lnTo>
                  <a:pt x="129540" y="266700"/>
                </a:lnTo>
                <a:lnTo>
                  <a:pt x="60960" y="266700"/>
                </a:lnTo>
                <a:cubicBezTo>
                  <a:pt x="44101" y="266700"/>
                  <a:pt x="30480" y="258187"/>
                  <a:pt x="30480" y="247650"/>
                </a:cubicBezTo>
                <a:cubicBezTo>
                  <a:pt x="30480" y="237113"/>
                  <a:pt x="44101" y="228600"/>
                  <a:pt x="60960" y="228600"/>
                </a:cubicBezTo>
                <a:lnTo>
                  <a:pt x="185642" y="228600"/>
                </a:lnTo>
                <a:cubicBezTo>
                  <a:pt x="209360" y="228600"/>
                  <a:pt x="228600" y="216575"/>
                  <a:pt x="228600" y="201751"/>
                </a:cubicBezTo>
                <a:cubicBezTo>
                  <a:pt x="228600" y="188357"/>
                  <a:pt x="212884" y="177046"/>
                  <a:pt x="191738" y="175141"/>
                </a:cubicBezTo>
                <a:lnTo>
                  <a:pt x="104489" y="167342"/>
                </a:lnTo>
                <a:cubicBezTo>
                  <a:pt x="53245" y="162818"/>
                  <a:pt x="15240" y="135374"/>
                  <a:pt x="15240" y="103049"/>
                </a:cubicBezTo>
                <a:cubicBezTo>
                  <a:pt x="15240" y="67211"/>
                  <a:pt x="61817" y="38100"/>
                  <a:pt x="119158" y="38100"/>
                </a:cubicBezTo>
                <a:lnTo>
                  <a:pt x="129540" y="38100"/>
                </a:lnTo>
                <a:lnTo>
                  <a:pt x="129540" y="14288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0" name="Text 8"/>
          <p:cNvSpPr/>
          <p:nvPr/>
        </p:nvSpPr>
        <p:spPr>
          <a:xfrm>
            <a:off x="4064000" y="19685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$129.5K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064000" y="2540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Total Revenue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0" y="1397000"/>
            <a:ext cx="2794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120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38100" y="38100"/>
                </a:moveTo>
                <a:cubicBezTo>
                  <a:pt x="38100" y="27563"/>
                  <a:pt x="29587" y="19050"/>
                  <a:pt x="19050" y="19050"/>
                </a:cubicBezTo>
                <a:cubicBezTo>
                  <a:pt x="8513" y="19050"/>
                  <a:pt x="0" y="27563"/>
                  <a:pt x="0" y="38100"/>
                </a:cubicBezTo>
                <a:lnTo>
                  <a:pt x="0" y="238125"/>
                </a:lnTo>
                <a:cubicBezTo>
                  <a:pt x="0" y="264438"/>
                  <a:pt x="21312" y="285750"/>
                  <a:pt x="47625" y="285750"/>
                </a:cubicBezTo>
                <a:lnTo>
                  <a:pt x="285750" y="285750"/>
                </a:lnTo>
                <a:cubicBezTo>
                  <a:pt x="296287" y="285750"/>
                  <a:pt x="304800" y="277237"/>
                  <a:pt x="304800" y="266700"/>
                </a:cubicBezTo>
                <a:cubicBezTo>
                  <a:pt x="304800" y="256163"/>
                  <a:pt x="296287" y="247650"/>
                  <a:pt x="285750" y="247650"/>
                </a:cubicBezTo>
                <a:lnTo>
                  <a:pt x="47625" y="247650"/>
                </a:lnTo>
                <a:cubicBezTo>
                  <a:pt x="42386" y="247650"/>
                  <a:pt x="38100" y="243364"/>
                  <a:pt x="38100" y="238125"/>
                </a:cubicBezTo>
                <a:lnTo>
                  <a:pt x="38100" y="38100"/>
                </a:lnTo>
                <a:close/>
                <a:moveTo>
                  <a:pt x="280154" y="89654"/>
                </a:moveTo>
                <a:cubicBezTo>
                  <a:pt x="287595" y="82213"/>
                  <a:pt x="287595" y="70128"/>
                  <a:pt x="280154" y="62686"/>
                </a:cubicBezTo>
                <a:cubicBezTo>
                  <a:pt x="272713" y="55245"/>
                  <a:pt x="260628" y="55245"/>
                  <a:pt x="253186" y="62686"/>
                </a:cubicBezTo>
                <a:lnTo>
                  <a:pt x="190500" y="125432"/>
                </a:lnTo>
                <a:lnTo>
                  <a:pt x="156329" y="91321"/>
                </a:lnTo>
                <a:cubicBezTo>
                  <a:pt x="148888" y="83880"/>
                  <a:pt x="136803" y="83880"/>
                  <a:pt x="129361" y="91321"/>
                </a:cubicBezTo>
                <a:lnTo>
                  <a:pt x="72211" y="148471"/>
                </a:lnTo>
                <a:cubicBezTo>
                  <a:pt x="64770" y="155912"/>
                  <a:pt x="64770" y="167997"/>
                  <a:pt x="72211" y="175439"/>
                </a:cubicBezTo>
                <a:cubicBezTo>
                  <a:pt x="79653" y="182880"/>
                  <a:pt x="91738" y="182880"/>
                  <a:pt x="99179" y="175439"/>
                </a:cubicBezTo>
                <a:lnTo>
                  <a:pt x="142875" y="131743"/>
                </a:lnTo>
                <a:lnTo>
                  <a:pt x="177046" y="165914"/>
                </a:lnTo>
                <a:cubicBezTo>
                  <a:pt x="184487" y="173355"/>
                  <a:pt x="196572" y="173355"/>
                  <a:pt x="204014" y="165914"/>
                </a:cubicBezTo>
                <a:lnTo>
                  <a:pt x="280214" y="89714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4" name="Text 12"/>
          <p:cNvSpPr/>
          <p:nvPr/>
        </p:nvSpPr>
        <p:spPr>
          <a:xfrm>
            <a:off x="7112000" y="19685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7.46%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112000" y="2540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Session Conversion Rate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906000" y="1397000"/>
            <a:ext cx="2794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1600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1430" y="-9525"/>
                </a:moveTo>
                <a:cubicBezTo>
                  <a:pt x="5096" y="-9525"/>
                  <a:pt x="0" y="-3155"/>
                  <a:pt x="0" y="4763"/>
                </a:cubicBezTo>
                <a:cubicBezTo>
                  <a:pt x="0" y="12680"/>
                  <a:pt x="5096" y="19050"/>
                  <a:pt x="11430" y="19050"/>
                </a:cubicBezTo>
                <a:lnTo>
                  <a:pt x="33004" y="19050"/>
                </a:lnTo>
                <a:cubicBezTo>
                  <a:pt x="34862" y="19050"/>
                  <a:pt x="36433" y="20717"/>
                  <a:pt x="36767" y="22979"/>
                </a:cubicBezTo>
                <a:lnTo>
                  <a:pt x="61579" y="193417"/>
                </a:lnTo>
                <a:cubicBezTo>
                  <a:pt x="64532" y="213777"/>
                  <a:pt x="78724" y="228600"/>
                  <a:pt x="95298" y="228600"/>
                </a:cubicBezTo>
                <a:lnTo>
                  <a:pt x="217170" y="228600"/>
                </a:lnTo>
                <a:cubicBezTo>
                  <a:pt x="223504" y="228600"/>
                  <a:pt x="228600" y="222230"/>
                  <a:pt x="228600" y="214313"/>
                </a:cubicBezTo>
                <a:cubicBezTo>
                  <a:pt x="228600" y="206395"/>
                  <a:pt x="223504" y="200025"/>
                  <a:pt x="217170" y="200025"/>
                </a:cubicBezTo>
                <a:lnTo>
                  <a:pt x="95298" y="200025"/>
                </a:lnTo>
                <a:cubicBezTo>
                  <a:pt x="89773" y="200025"/>
                  <a:pt x="85058" y="195084"/>
                  <a:pt x="84058" y="188297"/>
                </a:cubicBezTo>
                <a:lnTo>
                  <a:pt x="81629" y="171450"/>
                </a:lnTo>
                <a:lnTo>
                  <a:pt x="226219" y="171450"/>
                </a:lnTo>
                <a:cubicBezTo>
                  <a:pt x="240887" y="171450"/>
                  <a:pt x="253460" y="158413"/>
                  <a:pt x="256175" y="140375"/>
                </a:cubicBezTo>
                <a:lnTo>
                  <a:pt x="270939" y="41612"/>
                </a:lnTo>
                <a:cubicBezTo>
                  <a:pt x="272701" y="29885"/>
                  <a:pt x="265509" y="19050"/>
                  <a:pt x="255937" y="19050"/>
                </a:cubicBezTo>
                <a:lnTo>
                  <a:pt x="59388" y="19050"/>
                </a:lnTo>
                <a:lnTo>
                  <a:pt x="59198" y="17859"/>
                </a:lnTo>
                <a:cubicBezTo>
                  <a:pt x="56912" y="2024"/>
                  <a:pt x="45863" y="-9525"/>
                  <a:pt x="32956" y="-9525"/>
                </a:cubicBezTo>
                <a:lnTo>
                  <a:pt x="11430" y="-9525"/>
                </a:lnTo>
                <a:close/>
                <a:moveTo>
                  <a:pt x="99060" y="304800"/>
                </a:moveTo>
                <a:cubicBezTo>
                  <a:pt x="111677" y="304800"/>
                  <a:pt x="121920" y="291996"/>
                  <a:pt x="121920" y="276225"/>
                </a:cubicBezTo>
                <a:cubicBezTo>
                  <a:pt x="121920" y="260454"/>
                  <a:pt x="111677" y="247650"/>
                  <a:pt x="99060" y="247650"/>
                </a:cubicBezTo>
                <a:cubicBezTo>
                  <a:pt x="86443" y="247650"/>
                  <a:pt x="76200" y="260454"/>
                  <a:pt x="76200" y="276225"/>
                </a:cubicBezTo>
                <a:cubicBezTo>
                  <a:pt x="76200" y="291996"/>
                  <a:pt x="86443" y="304800"/>
                  <a:pt x="99060" y="304800"/>
                </a:cubicBezTo>
                <a:close/>
                <a:moveTo>
                  <a:pt x="205740" y="304800"/>
                </a:moveTo>
                <a:cubicBezTo>
                  <a:pt x="218357" y="304800"/>
                  <a:pt x="228600" y="291996"/>
                  <a:pt x="228600" y="276225"/>
                </a:cubicBezTo>
                <a:cubicBezTo>
                  <a:pt x="228600" y="260454"/>
                  <a:pt x="218357" y="247650"/>
                  <a:pt x="205740" y="247650"/>
                </a:cubicBezTo>
                <a:cubicBezTo>
                  <a:pt x="193123" y="247650"/>
                  <a:pt x="182880" y="260454"/>
                  <a:pt x="182880" y="276225"/>
                </a:cubicBezTo>
                <a:cubicBezTo>
                  <a:pt x="182880" y="291996"/>
                  <a:pt x="193123" y="304800"/>
                  <a:pt x="205740" y="3048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8" name="Text 16"/>
          <p:cNvSpPr/>
          <p:nvPr/>
        </p:nvSpPr>
        <p:spPr>
          <a:xfrm>
            <a:off x="10160000" y="1968500"/>
            <a:ext cx="228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73.25%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10160000" y="2540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Abandonment Rate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2954000" y="1397000"/>
            <a:ext cx="2540000" cy="165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208000" y="1587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87086" y="-19050"/>
                </a:moveTo>
                <a:cubicBezTo>
                  <a:pt x="99128" y="-19050"/>
                  <a:pt x="108857" y="-10537"/>
                  <a:pt x="108857" y="0"/>
                </a:cubicBezTo>
                <a:lnTo>
                  <a:pt x="108857" y="57150"/>
                </a:lnTo>
                <a:lnTo>
                  <a:pt x="195943" y="57150"/>
                </a:lnTo>
                <a:lnTo>
                  <a:pt x="195943" y="0"/>
                </a:lnTo>
                <a:cubicBezTo>
                  <a:pt x="195943" y="-10537"/>
                  <a:pt x="205672" y="-19050"/>
                  <a:pt x="217714" y="-19050"/>
                </a:cubicBezTo>
                <a:cubicBezTo>
                  <a:pt x="229757" y="-19050"/>
                  <a:pt x="239486" y="-10537"/>
                  <a:pt x="239486" y="0"/>
                </a:cubicBezTo>
                <a:lnTo>
                  <a:pt x="239486" y="57150"/>
                </a:lnTo>
                <a:lnTo>
                  <a:pt x="283029" y="57150"/>
                </a:lnTo>
                <a:cubicBezTo>
                  <a:pt x="295071" y="57150"/>
                  <a:pt x="304800" y="65663"/>
                  <a:pt x="304800" y="76200"/>
                </a:cubicBezTo>
                <a:cubicBezTo>
                  <a:pt x="304800" y="86737"/>
                  <a:pt x="295071" y="95250"/>
                  <a:pt x="283029" y="95250"/>
                </a:cubicBezTo>
                <a:lnTo>
                  <a:pt x="283029" y="133350"/>
                </a:lnTo>
                <a:cubicBezTo>
                  <a:pt x="283029" y="189964"/>
                  <a:pt x="235948" y="236994"/>
                  <a:pt x="174171" y="246043"/>
                </a:cubicBezTo>
                <a:lnTo>
                  <a:pt x="174171" y="285750"/>
                </a:lnTo>
                <a:cubicBezTo>
                  <a:pt x="174171" y="296287"/>
                  <a:pt x="164442" y="304800"/>
                  <a:pt x="152400" y="304800"/>
                </a:cubicBezTo>
                <a:cubicBezTo>
                  <a:pt x="140358" y="304800"/>
                  <a:pt x="130629" y="296287"/>
                  <a:pt x="130629" y="285750"/>
                </a:cubicBezTo>
                <a:lnTo>
                  <a:pt x="130629" y="246043"/>
                </a:lnTo>
                <a:cubicBezTo>
                  <a:pt x="68852" y="236994"/>
                  <a:pt x="21771" y="189964"/>
                  <a:pt x="21771" y="133350"/>
                </a:cubicBezTo>
                <a:lnTo>
                  <a:pt x="21771" y="95250"/>
                </a:lnTo>
                <a:cubicBezTo>
                  <a:pt x="9729" y="95250"/>
                  <a:pt x="0" y="86737"/>
                  <a:pt x="0" y="76200"/>
                </a:cubicBezTo>
                <a:cubicBezTo>
                  <a:pt x="0" y="65663"/>
                  <a:pt x="9729" y="57150"/>
                  <a:pt x="21771" y="57150"/>
                </a:cubicBezTo>
                <a:lnTo>
                  <a:pt x="65314" y="57150"/>
                </a:lnTo>
                <a:lnTo>
                  <a:pt x="65314" y="0"/>
                </a:lnTo>
                <a:cubicBezTo>
                  <a:pt x="65314" y="-10537"/>
                  <a:pt x="75043" y="-19050"/>
                  <a:pt x="87086" y="-1905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13208000" y="1968500"/>
            <a:ext cx="2032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600" b="1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31.1%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13208000" y="2540000"/>
            <a:ext cx="228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Electronics Revenue Share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62000" y="3429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Conversion Metrics by Channel</a:t>
            </a:r>
            <a:endParaRPr lang="en-US" sz="16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762000" y="3873500"/>
          <a:ext cx="8128000" cy="4191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9398000" y="3873500"/>
            <a:ext cx="6096000" cy="419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715500" y="4064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Headline Findings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9715500" y="4445000"/>
            <a:ext cx="508000" cy="254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29" name="Text 26"/>
          <p:cNvSpPr/>
          <p:nvPr/>
        </p:nvSpPr>
        <p:spPr>
          <a:xfrm>
            <a:off x="9715500" y="4635500"/>
            <a:ext cx="5461000" cy="323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1,440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orders from </a:t>
            </a:r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1,000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unique purchasing customers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3,524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users abandoned cart — largest single drop-off in the entire funnel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 ads convert highest (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8.05%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with only 2% of traffic volume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Organic search drives most revenue (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$45,729</a:t>
            </a:r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) through sheer scale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10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Date range: Jan 2023 – May 2026 (3.5 years)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31" name="Text 28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03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Six Relational Tables Across a </a:t>
            </a:r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3.5-Year</a:t>
            </a:r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Window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 (133,305 Rows)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8128000" cy="3937000"/>
        </p:xfrm>
        <a:graphic>
          <a:graphicData uri="http://schemas.openxmlformats.org/drawingml/2006/table">
            <a:tbl>
              <a:tblPr/>
              <a:tblGrid>
                <a:gridCol w="1788160"/>
                <a:gridCol w="1219200"/>
                <a:gridCol w="5120640"/>
              </a:tblGrid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Table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Rows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Description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users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10,000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 demographics, age, gender, country, income, loyalty tier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 catalog: name, category, brand, price, rating, stock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sessions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19,315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Website visits: device, referrer source, conversion flag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interactions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100,000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Engagement: view, click, add_to_cart, wishlist, dwell time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</a:tr>
              <a:tr h="56299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purchases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1,737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Transaction line items: order ID, quantity, total amount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905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reviews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1,253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Customer feedback: star rating (1-5), review title and text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9398000" y="139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Three-Phase Toolchain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98000" y="1841500"/>
            <a:ext cx="6096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52000" y="2095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49091" y="139254"/>
                </a:moveTo>
                <a:cubicBezTo>
                  <a:pt x="342979" y="117793"/>
                  <a:pt x="331391" y="101610"/>
                  <a:pt x="306705" y="101610"/>
                </a:cubicBezTo>
                <a:lnTo>
                  <a:pt x="274876" y="101610"/>
                </a:lnTo>
                <a:lnTo>
                  <a:pt x="274876" y="134531"/>
                </a:lnTo>
                <a:cubicBezTo>
                  <a:pt x="274876" y="160089"/>
                  <a:pt x="250111" y="181620"/>
                  <a:pt x="221853" y="181620"/>
                </a:cubicBezTo>
                <a:lnTo>
                  <a:pt x="137081" y="181620"/>
                </a:lnTo>
                <a:cubicBezTo>
                  <a:pt x="113903" y="181620"/>
                  <a:pt x="94694" y="198983"/>
                  <a:pt x="94694" y="219333"/>
                </a:cubicBezTo>
                <a:lnTo>
                  <a:pt x="94694" y="290036"/>
                </a:lnTo>
                <a:cubicBezTo>
                  <a:pt x="94694" y="310178"/>
                  <a:pt x="114697" y="321985"/>
                  <a:pt x="137081" y="327749"/>
                </a:cubicBezTo>
                <a:cubicBezTo>
                  <a:pt x="163909" y="334625"/>
                  <a:pt x="189706" y="335875"/>
                  <a:pt x="221853" y="327749"/>
                </a:cubicBezTo>
                <a:cubicBezTo>
                  <a:pt x="243205" y="322332"/>
                  <a:pt x="264239" y="311428"/>
                  <a:pt x="264239" y="290036"/>
                </a:cubicBezTo>
                <a:lnTo>
                  <a:pt x="264239" y="261769"/>
                </a:lnTo>
                <a:lnTo>
                  <a:pt x="179546" y="261769"/>
                </a:lnTo>
                <a:lnTo>
                  <a:pt x="179546" y="252323"/>
                </a:lnTo>
                <a:lnTo>
                  <a:pt x="306705" y="252323"/>
                </a:lnTo>
                <a:cubicBezTo>
                  <a:pt x="331391" y="252323"/>
                  <a:pt x="340519" y="237252"/>
                  <a:pt x="349091" y="214680"/>
                </a:cubicBezTo>
                <a:cubicBezTo>
                  <a:pt x="357981" y="191413"/>
                  <a:pt x="357584" y="169049"/>
                  <a:pt x="349091" y="139254"/>
                </a:cubicBezTo>
                <a:close/>
                <a:moveTo>
                  <a:pt x="227171" y="308858"/>
                </a:moveTo>
                <a:cubicBezTo>
                  <a:pt x="221130" y="309229"/>
                  <a:pt x="215357" y="306619"/>
                  <a:pt x="212208" y="302093"/>
                </a:cubicBezTo>
                <a:cubicBezTo>
                  <a:pt x="209058" y="297567"/>
                  <a:pt x="209058" y="291882"/>
                  <a:pt x="212208" y="287356"/>
                </a:cubicBezTo>
                <a:cubicBezTo>
                  <a:pt x="215357" y="282830"/>
                  <a:pt x="221130" y="280220"/>
                  <a:pt x="227171" y="280591"/>
                </a:cubicBezTo>
                <a:cubicBezTo>
                  <a:pt x="233212" y="280220"/>
                  <a:pt x="238985" y="282830"/>
                  <a:pt x="242135" y="287356"/>
                </a:cubicBezTo>
                <a:cubicBezTo>
                  <a:pt x="245284" y="291882"/>
                  <a:pt x="245284" y="297567"/>
                  <a:pt x="242135" y="302093"/>
                </a:cubicBezTo>
                <a:cubicBezTo>
                  <a:pt x="238985" y="306619"/>
                  <a:pt x="233212" y="309229"/>
                  <a:pt x="227171" y="308858"/>
                </a:cubicBezTo>
                <a:close/>
                <a:moveTo>
                  <a:pt x="133191" y="172313"/>
                </a:moveTo>
                <a:lnTo>
                  <a:pt x="217964" y="172313"/>
                </a:lnTo>
                <a:cubicBezTo>
                  <a:pt x="241538" y="172313"/>
                  <a:pt x="260350" y="155297"/>
                  <a:pt x="260350" y="134600"/>
                </a:cubicBezTo>
                <a:lnTo>
                  <a:pt x="260350" y="63827"/>
                </a:lnTo>
                <a:cubicBezTo>
                  <a:pt x="260350" y="43686"/>
                  <a:pt x="240983" y="28615"/>
                  <a:pt x="217964" y="25211"/>
                </a:cubicBezTo>
                <a:cubicBezTo>
                  <a:pt x="189548" y="21114"/>
                  <a:pt x="158671" y="21322"/>
                  <a:pt x="133191" y="25281"/>
                </a:cubicBezTo>
                <a:cubicBezTo>
                  <a:pt x="97314" y="30837"/>
                  <a:pt x="90805" y="42436"/>
                  <a:pt x="90805" y="63897"/>
                </a:cubicBezTo>
                <a:lnTo>
                  <a:pt x="90805" y="92164"/>
                </a:lnTo>
                <a:lnTo>
                  <a:pt x="175657" y="92164"/>
                </a:lnTo>
                <a:lnTo>
                  <a:pt x="175657" y="101610"/>
                </a:lnTo>
                <a:lnTo>
                  <a:pt x="58976" y="101610"/>
                </a:lnTo>
                <a:cubicBezTo>
                  <a:pt x="34290" y="101610"/>
                  <a:pt x="12700" y="114598"/>
                  <a:pt x="5953" y="139254"/>
                </a:cubicBezTo>
                <a:cubicBezTo>
                  <a:pt x="-1826" y="167521"/>
                  <a:pt x="-2143" y="185162"/>
                  <a:pt x="5953" y="214680"/>
                </a:cubicBezTo>
                <a:cubicBezTo>
                  <a:pt x="11986" y="236627"/>
                  <a:pt x="26353" y="252323"/>
                  <a:pt x="51038" y="252323"/>
                </a:cubicBezTo>
                <a:lnTo>
                  <a:pt x="80169" y="252323"/>
                </a:lnTo>
                <a:lnTo>
                  <a:pt x="80169" y="218430"/>
                </a:lnTo>
                <a:cubicBezTo>
                  <a:pt x="80169" y="193913"/>
                  <a:pt x="104378" y="172313"/>
                  <a:pt x="133191" y="172313"/>
                </a:cubicBezTo>
                <a:close/>
                <a:moveTo>
                  <a:pt x="127953" y="44936"/>
                </a:moveTo>
                <a:cubicBezTo>
                  <a:pt x="136889" y="44936"/>
                  <a:pt x="144145" y="51285"/>
                  <a:pt x="144145" y="59105"/>
                </a:cubicBezTo>
                <a:cubicBezTo>
                  <a:pt x="144145" y="66924"/>
                  <a:pt x="136889" y="73273"/>
                  <a:pt x="127953" y="73273"/>
                </a:cubicBezTo>
                <a:cubicBezTo>
                  <a:pt x="119016" y="73273"/>
                  <a:pt x="111760" y="66924"/>
                  <a:pt x="111760" y="59105"/>
                </a:cubicBezTo>
                <a:cubicBezTo>
                  <a:pt x="111760" y="51285"/>
                  <a:pt x="119016" y="44936"/>
                  <a:pt x="127953" y="44936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9" name="Text 6"/>
          <p:cNvSpPr/>
          <p:nvPr/>
        </p:nvSpPr>
        <p:spPr>
          <a:xfrm>
            <a:off x="10160000" y="196850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Exploration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pandas, matplotlib, seaborn — data loading, joining, funnel construction, visual EDA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9398000" y="3276600"/>
            <a:ext cx="6096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52000" y="35306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55600" y="142935"/>
                </a:moveTo>
                <a:cubicBezTo>
                  <a:pt x="343853" y="149741"/>
                  <a:pt x="330359" y="155228"/>
                  <a:pt x="316309" y="159603"/>
                </a:cubicBezTo>
                <a:cubicBezTo>
                  <a:pt x="279003" y="171271"/>
                  <a:pt x="230029" y="177800"/>
                  <a:pt x="177800" y="177800"/>
                </a:cubicBezTo>
                <a:cubicBezTo>
                  <a:pt x="125571" y="177800"/>
                  <a:pt x="76518" y="171202"/>
                  <a:pt x="39291" y="159603"/>
                </a:cubicBezTo>
                <a:cubicBezTo>
                  <a:pt x="25321" y="155228"/>
                  <a:pt x="11747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79613" y="255587"/>
                  <a:pt x="177800" y="255587"/>
                </a:cubicBezTo>
                <a:cubicBezTo>
                  <a:pt x="275987" y="255587"/>
                  <a:pt x="355600" y="230723"/>
                  <a:pt x="355600" y="200025"/>
                </a:cubicBezTo>
                <a:lnTo>
                  <a:pt x="355600" y="142935"/>
                </a:lnTo>
                <a:close/>
                <a:moveTo>
                  <a:pt x="355600" y="88900"/>
                </a:moveTo>
                <a:lnTo>
                  <a:pt x="355600" y="55563"/>
                </a:lnTo>
                <a:cubicBezTo>
                  <a:pt x="355600" y="24864"/>
                  <a:pt x="275987" y="0"/>
                  <a:pt x="177800" y="0"/>
                </a:cubicBezTo>
                <a:cubicBezTo>
                  <a:pt x="79613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79613" y="144463"/>
                  <a:pt x="177800" y="144463"/>
                </a:cubicBezTo>
                <a:cubicBezTo>
                  <a:pt x="275987" y="144463"/>
                  <a:pt x="355600" y="119598"/>
                  <a:pt x="355600" y="88900"/>
                </a:cubicBezTo>
                <a:close/>
                <a:moveTo>
                  <a:pt x="316309" y="270728"/>
                </a:moveTo>
                <a:cubicBezTo>
                  <a:pt x="279083" y="282327"/>
                  <a:pt x="230108" y="288925"/>
                  <a:pt x="177800" y="288925"/>
                </a:cubicBezTo>
                <a:cubicBezTo>
                  <a:pt x="125492" y="288925"/>
                  <a:pt x="76518" y="282327"/>
                  <a:pt x="39291" y="270728"/>
                </a:cubicBezTo>
                <a:cubicBezTo>
                  <a:pt x="25321" y="266353"/>
                  <a:pt x="11747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79613" y="355600"/>
                  <a:pt x="177800" y="355600"/>
                </a:cubicBezTo>
                <a:cubicBezTo>
                  <a:pt x="275987" y="355600"/>
                  <a:pt x="355600" y="330736"/>
                  <a:pt x="355600" y="300038"/>
                </a:cubicBezTo>
                <a:lnTo>
                  <a:pt x="355600" y="254060"/>
                </a:lnTo>
                <a:cubicBezTo>
                  <a:pt x="343853" y="260866"/>
                  <a:pt x="330359" y="266353"/>
                  <a:pt x="316309" y="270728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2" name="Text 9"/>
          <p:cNvSpPr/>
          <p:nvPr/>
        </p:nvSpPr>
        <p:spPr>
          <a:xfrm>
            <a:off x="10160000" y="340360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Querying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DuckDB/SQL — CTEs, window functions, multi-table joins for structured queries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9398000" y="4711700"/>
            <a:ext cx="6096000" cy="127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52000" y="49657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316336" y="166688"/>
                </a:moveTo>
                <a:lnTo>
                  <a:pt x="207680" y="166688"/>
                </a:lnTo>
                <a:cubicBezTo>
                  <a:pt x="196753" y="166688"/>
                  <a:pt x="187925" y="156756"/>
                  <a:pt x="187925" y="144463"/>
                </a:cubicBezTo>
                <a:lnTo>
                  <a:pt x="187925" y="22225"/>
                </a:lnTo>
                <a:cubicBezTo>
                  <a:pt x="187925" y="9932"/>
                  <a:pt x="196815" y="-139"/>
                  <a:pt x="207619" y="1459"/>
                </a:cubicBezTo>
                <a:cubicBezTo>
                  <a:pt x="273676" y="11321"/>
                  <a:pt x="326028" y="70217"/>
                  <a:pt x="334795" y="144532"/>
                </a:cubicBezTo>
                <a:cubicBezTo>
                  <a:pt x="336215" y="156686"/>
                  <a:pt x="327263" y="166688"/>
                  <a:pt x="316336" y="166688"/>
                </a:cubicBezTo>
                <a:close/>
                <a:moveTo>
                  <a:pt x="137425" y="25837"/>
                </a:moveTo>
                <a:cubicBezTo>
                  <a:pt x="148599" y="23197"/>
                  <a:pt x="158291" y="33476"/>
                  <a:pt x="158291" y="46325"/>
                </a:cubicBezTo>
                <a:lnTo>
                  <a:pt x="158291" y="183356"/>
                </a:lnTo>
                <a:cubicBezTo>
                  <a:pt x="158291" y="187246"/>
                  <a:pt x="159526" y="190996"/>
                  <a:pt x="161687" y="193983"/>
                </a:cubicBezTo>
                <a:lnTo>
                  <a:pt x="243240" y="304691"/>
                </a:lnTo>
                <a:cubicBezTo>
                  <a:pt x="250463" y="314484"/>
                  <a:pt x="248920" y="329277"/>
                  <a:pt x="238980" y="335320"/>
                </a:cubicBezTo>
                <a:cubicBezTo>
                  <a:pt x="217928" y="348238"/>
                  <a:pt x="193790" y="355600"/>
                  <a:pt x="168169" y="355600"/>
                </a:cubicBezTo>
                <a:cubicBezTo>
                  <a:pt x="86369" y="355600"/>
                  <a:pt x="20003" y="280938"/>
                  <a:pt x="20003" y="188913"/>
                </a:cubicBezTo>
                <a:cubicBezTo>
                  <a:pt x="20003" y="108694"/>
                  <a:pt x="70317" y="41741"/>
                  <a:pt x="137425" y="25837"/>
                </a:cubicBezTo>
                <a:close/>
                <a:moveTo>
                  <a:pt x="294975" y="200025"/>
                </a:moveTo>
                <a:lnTo>
                  <a:pt x="334486" y="200025"/>
                </a:lnTo>
                <a:cubicBezTo>
                  <a:pt x="345907" y="200025"/>
                  <a:pt x="355044" y="210929"/>
                  <a:pt x="352698" y="223500"/>
                </a:cubicBezTo>
                <a:cubicBezTo>
                  <a:pt x="346401" y="257115"/>
                  <a:pt x="331091" y="286980"/>
                  <a:pt x="309730" y="309761"/>
                </a:cubicBezTo>
                <a:cubicBezTo>
                  <a:pt x="302137" y="317887"/>
                  <a:pt x="290221" y="316151"/>
                  <a:pt x="283554" y="307052"/>
                </a:cubicBezTo>
                <a:lnTo>
                  <a:pt x="231449" y="236418"/>
                </a:lnTo>
                <a:cubicBezTo>
                  <a:pt x="220768" y="221903"/>
                  <a:pt x="229967" y="200025"/>
                  <a:pt x="246636" y="200025"/>
                </a:cubicBezTo>
                <a:lnTo>
                  <a:pt x="294913" y="200025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5" name="Text 12"/>
          <p:cNvSpPr/>
          <p:nvPr/>
        </p:nvSpPr>
        <p:spPr>
          <a:xfrm>
            <a:off x="10160000" y="4838700"/>
            <a:ext cx="5080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5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Delivery</a:t>
            </a:r>
            <a:endParaRPr lang="en-US" sz="1400" dirty="0"/>
          </a:p>
          <a:p>
            <a:pPr algn="l">
              <a:lnSpc>
                <a:spcPct val="150000"/>
              </a:lnSpc>
            </a:pPr>
            <a:r>
              <a:rPr lang="en-US" sz="14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 BI — Power Query, DAX, star-schema model, 50+ measures, 4 pages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2000" y="622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62000" y="6667500"/>
            <a:ext cx="14732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 raw transactional data into a unified analytical asset  •  Identify cart abandonment drivers and quantify the revenue impact  •  Evaluate marketing channel effectiveness across conversion, revenue, and efficiency  •  Assess product and category performance including ratings-revenue relationship  •  Deliver an interactive, multi-page Power BI dashboard for ongoing monitoring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9" name="Text 16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04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Electronics Drives </a:t>
            </a:r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31.1%</a:t>
            </a:r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Revenue; Top 5 Products Generate $28.9K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0D7377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762000" y="1397000"/>
          <a:ext cx="7112000" cy="469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8382000" y="139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 5 Products by Revenue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82000" y="1841500"/>
          <a:ext cx="7112000" cy="2730500"/>
        </p:xfrm>
        <a:graphic>
          <a:graphicData uri="http://schemas.openxmlformats.org/drawingml/2006/table">
            <a:tbl>
              <a:tblPr/>
              <a:tblGrid>
                <a:gridCol w="2844800"/>
                <a:gridCol w="1991360"/>
                <a:gridCol w="1066800"/>
                <a:gridCol w="1209040"/>
              </a:tblGrid>
              <a:tr h="455994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Product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Category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Orders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Revenue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4559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Apple Book4 Ultrabook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Electronics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$7,203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9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Apple Accessorie Stand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Electronics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$6,141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</a:tr>
              <a:tr h="4559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Wilson Book19 Fitness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Sports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$5,883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599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Instant Pot Microfiber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Home &amp; Kitchen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$5,218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</a:tr>
              <a:tr h="450533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Wilson Fitness Pro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Sports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$3,472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8382000" y="4826000"/>
            <a:ext cx="7112000" cy="1270000"/>
          </a:xfrm>
          <a:prstGeom prst="rect">
            <a:avLst/>
          </a:prstGeom>
          <a:solidFill>
            <a:srgbClr val="0D7377">
              <a:alpha val="6275"/>
            </a:srgbClr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8382000" y="4826000"/>
            <a:ext cx="50800" cy="12700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9" name="Text 5"/>
          <p:cNvSpPr/>
          <p:nvPr/>
        </p:nvSpPr>
        <p:spPr>
          <a:xfrm>
            <a:off x="8636000" y="4953000"/>
            <a:ext cx="660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Insight: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Window-function ranking (RANK() OVER PARTITION BY category) avoids distortion from comparing items across different price tiers — a $530 ultrabook vs. a $2 grocery item.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1" name="Text 7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05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 Ads Convert at </a:t>
            </a:r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8.05%</a:t>
            </a:r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Highest Efficiency, Lowest Volume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Rate by Referrer Source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8636000" cy="3810000"/>
        </p:xfrm>
        <a:graphic>
          <a:graphicData uri="http://schemas.openxmlformats.org/drawingml/2006/table">
            <a:tbl>
              <a:tblPr/>
              <a:tblGrid>
                <a:gridCol w="2072640"/>
                <a:gridCol w="1554480"/>
                <a:gridCol w="1554480"/>
                <a:gridCol w="1727200"/>
                <a:gridCol w="1727200"/>
              </a:tblGrid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Referrer Source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Sessions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Converted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Conv. Rate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5F4F2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Abs. Revenue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419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Display ad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385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8.05%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$3,892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Paid search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1,509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121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8.02%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$15,247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Email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1,888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144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7.63%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$14,378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Referral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1,008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7.44%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$10,659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Direct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4,742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351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7.40%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$28,449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Organic search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6,950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513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7.38%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$45,729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8F7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Social media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2,833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205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7.24%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solidFill>
                            <a:srgbClr val="1A1D23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$11,158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54864" marR="54864" marT="0" marB="0" anchor="ctr">
                    <a:lnL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2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9906000" y="1841500"/>
            <a:ext cx="5588000" cy="1968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906000" y="1841500"/>
            <a:ext cx="5588000" cy="508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8" name="Text 5"/>
          <p:cNvSpPr/>
          <p:nvPr/>
        </p:nvSpPr>
        <p:spPr>
          <a:xfrm>
            <a:off x="10160000" y="2095500"/>
            <a:ext cx="5080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Quality vs. Scale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Display ad: only 2% of sessions but highest conversion. Organic search: most revenue ($45,729) through volume (36% of sessions).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906000" y="4000500"/>
            <a:ext cx="5588000" cy="177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906000" y="4000500"/>
            <a:ext cx="5588000" cy="508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11" name="Text 8"/>
          <p:cNvSpPr/>
          <p:nvPr/>
        </p:nvSpPr>
        <p:spPr>
          <a:xfrm>
            <a:off x="10160000" y="4254500"/>
            <a:ext cx="508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Channel-Dependent Products</a:t>
            </a:r>
            <a:endParaRPr lang="en-US" sz="1300" dirty="0"/>
          </a:p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products get 100% of revenue from display ads: Zwilling Furniture and Apple Prime16 Camera.</a:t>
            </a:r>
            <a:endParaRPr lang="en-US" sz="13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3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Home &amp; Kitchen over-indexes on organic (+3.23pp).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762000" y="6096000"/>
            <a:ext cx="14732000" cy="1778000"/>
          </a:xfrm>
          <a:prstGeom prst="rect">
            <a:avLst/>
          </a:prstGeom>
          <a:solidFill>
            <a:srgbClr val="0F1419"/>
          </a:solidFill>
          <a:ln/>
        </p:spPr>
      </p:sp>
      <p:sp>
        <p:nvSpPr>
          <p:cNvPr id="13" name="Text 10"/>
          <p:cNvSpPr/>
          <p:nvPr/>
        </p:nvSpPr>
        <p:spPr>
          <a:xfrm>
            <a:off x="1143000" y="6286500"/>
            <a:ext cx="1397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Strategy Takeaway: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Treat organic search and display advertising as complementary investments, not competing ones. Organic search for revenue scale, display ads for conversion efficiency. Consider increasing display ad spend incrementally — its small scale (2% of sessions) leaves room to grow before efficiency likely declines.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5" name="Text 12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06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73.25%</a:t>
            </a:r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Cart Abandonment Points to Checkout Friction, Not Price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33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Conversion Funnel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2000" y="1778000"/>
            <a:ext cx="7366000" cy="571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780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Registered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10,000 users (100%)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70000" y="2476500"/>
            <a:ext cx="6477000" cy="571500"/>
          </a:xfrm>
          <a:prstGeom prst="rect">
            <a:avLst/>
          </a:prstGeom>
          <a:solidFill>
            <a:srgbClr val="0D7377">
              <a:alpha val="8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460500" y="2476500"/>
            <a:ext cx="4445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Had Session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6,944 (69.4%)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778000" y="3175000"/>
            <a:ext cx="5461000" cy="571500"/>
          </a:xfrm>
          <a:prstGeom prst="rect">
            <a:avLst/>
          </a:prstGeom>
          <a:solidFill>
            <a:srgbClr val="0D7377">
              <a:alpha val="6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968500" y="3175000"/>
            <a:ext cx="4826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Added to Cart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4,811 (48.1%)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286000" y="3873500"/>
            <a:ext cx="4445000" cy="5715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2476500" y="3873500"/>
            <a:ext cx="38100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4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Purchased</a:t>
            </a:r>
            <a:pPr algn="l">
              <a:lnSpc>
                <a:spcPct val="120000"/>
              </a:lnSpc>
            </a:pPr>
            <a:r>
              <a:rPr lang="en-US" sz="14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1,287 (12.9%)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636000" y="1778000"/>
            <a:ext cx="6858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B87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53500" y="1968500"/>
            <a:ext cx="6223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Abandonment Analysis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953500" y="2476500"/>
            <a:ext cx="6223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4,811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users added to cart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3,524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abandoned (never purchased)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73.25%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abandonment rate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3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Largest single drop-off in the entire funnel — bigger than any acquisition gap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62000" y="48895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Root Cause Evidence (Not Price, Not Engagement)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62000" y="5397500"/>
            <a:ext cx="4699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6000" y="565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2700" y="38100"/>
                </a:moveTo>
                <a:cubicBezTo>
                  <a:pt x="12700" y="17085"/>
                  <a:pt x="35481" y="0"/>
                  <a:pt x="63500" y="0"/>
                </a:cubicBezTo>
                <a:lnTo>
                  <a:pt x="241300" y="0"/>
                </a:lnTo>
                <a:cubicBezTo>
                  <a:pt x="269319" y="0"/>
                  <a:pt x="292100" y="17085"/>
                  <a:pt x="292100" y="38100"/>
                </a:cubicBezTo>
                <a:lnTo>
                  <a:pt x="292100" y="266700"/>
                </a:lnTo>
                <a:cubicBezTo>
                  <a:pt x="292100" y="287715"/>
                  <a:pt x="269319" y="304800"/>
                  <a:pt x="241300" y="304800"/>
                </a:cubicBezTo>
                <a:lnTo>
                  <a:pt x="63500" y="304800"/>
                </a:lnTo>
                <a:cubicBezTo>
                  <a:pt x="35481" y="304800"/>
                  <a:pt x="12700" y="287715"/>
                  <a:pt x="12700" y="266700"/>
                </a:cubicBezTo>
                <a:lnTo>
                  <a:pt x="12700" y="38100"/>
                </a:lnTo>
                <a:close/>
                <a:moveTo>
                  <a:pt x="101600" y="261937"/>
                </a:moveTo>
                <a:cubicBezTo>
                  <a:pt x="101600" y="269855"/>
                  <a:pt x="110093" y="276225"/>
                  <a:pt x="120650" y="276225"/>
                </a:cubicBezTo>
                <a:lnTo>
                  <a:pt x="184150" y="276225"/>
                </a:lnTo>
                <a:cubicBezTo>
                  <a:pt x="194707" y="276225"/>
                  <a:pt x="203200" y="269855"/>
                  <a:pt x="203200" y="261937"/>
                </a:cubicBezTo>
                <a:cubicBezTo>
                  <a:pt x="203200" y="254020"/>
                  <a:pt x="194707" y="247650"/>
                  <a:pt x="184150" y="247650"/>
                </a:cubicBezTo>
                <a:lnTo>
                  <a:pt x="120650" y="247650"/>
                </a:lnTo>
                <a:cubicBezTo>
                  <a:pt x="110093" y="247650"/>
                  <a:pt x="101600" y="254020"/>
                  <a:pt x="101600" y="261937"/>
                </a:cubicBezTo>
                <a:close/>
                <a:moveTo>
                  <a:pt x="241300" y="38100"/>
                </a:moveTo>
                <a:lnTo>
                  <a:pt x="63500" y="38100"/>
                </a:lnTo>
                <a:lnTo>
                  <a:pt x="63500" y="219075"/>
                </a:lnTo>
                <a:lnTo>
                  <a:pt x="241300" y="219075"/>
                </a:lnTo>
                <a:lnTo>
                  <a:pt x="241300" y="38100"/>
                </a:ln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19" name="Text 17"/>
          <p:cNvSpPr/>
          <p:nvPr/>
        </p:nvSpPr>
        <p:spPr>
          <a:xfrm>
            <a:off x="1016000" y="60960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By Device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Mobile: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3,240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Desktop: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2,050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| Tablet: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752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is the dominant source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715000" y="5397500"/>
            <a:ext cx="4699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69000" y="565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9348" y="57150"/>
                </a:moveTo>
                <a:lnTo>
                  <a:pt x="19348" y="146149"/>
                </a:lnTo>
                <a:cubicBezTo>
                  <a:pt x="19348" y="156270"/>
                  <a:pt x="23336" y="165973"/>
                  <a:pt x="30480" y="173117"/>
                </a:cubicBezTo>
                <a:lnTo>
                  <a:pt x="144780" y="287417"/>
                </a:lnTo>
                <a:cubicBezTo>
                  <a:pt x="159663" y="302300"/>
                  <a:pt x="183773" y="302300"/>
                  <a:pt x="198656" y="287417"/>
                </a:cubicBezTo>
                <a:lnTo>
                  <a:pt x="287655" y="198418"/>
                </a:lnTo>
                <a:cubicBezTo>
                  <a:pt x="302538" y="183535"/>
                  <a:pt x="302538" y="159425"/>
                  <a:pt x="287655" y="144542"/>
                </a:cubicBezTo>
                <a:lnTo>
                  <a:pt x="173355" y="30242"/>
                </a:lnTo>
                <a:cubicBezTo>
                  <a:pt x="166211" y="23039"/>
                  <a:pt x="156567" y="19050"/>
                  <a:pt x="146447" y="19050"/>
                </a:cubicBezTo>
                <a:lnTo>
                  <a:pt x="57448" y="19050"/>
                </a:lnTo>
                <a:cubicBezTo>
                  <a:pt x="36433" y="19050"/>
                  <a:pt x="19348" y="36135"/>
                  <a:pt x="19348" y="57150"/>
                </a:cubicBezTo>
                <a:close/>
                <a:moveTo>
                  <a:pt x="86023" y="66675"/>
                </a:moveTo>
                <a:cubicBezTo>
                  <a:pt x="96537" y="66675"/>
                  <a:pt x="105073" y="75211"/>
                  <a:pt x="105073" y="85725"/>
                </a:cubicBezTo>
                <a:cubicBezTo>
                  <a:pt x="105073" y="96239"/>
                  <a:pt x="96537" y="104775"/>
                  <a:pt x="86023" y="104775"/>
                </a:cubicBezTo>
                <a:cubicBezTo>
                  <a:pt x="75509" y="104775"/>
                  <a:pt x="66973" y="96239"/>
                  <a:pt x="66973" y="85725"/>
                </a:cubicBezTo>
                <a:cubicBezTo>
                  <a:pt x="66973" y="75211"/>
                  <a:pt x="75509" y="66675"/>
                  <a:pt x="86023" y="66675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5969000" y="6096000"/>
            <a:ext cx="4191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Price Sensitivity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Abandoned avg: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$61.63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Purchased avg: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$64.26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Nearly identical — price is NOT the driver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0668000" y="5397500"/>
            <a:ext cx="4826000" cy="2476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922000" y="56515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cubicBezTo>
                  <a:pt x="236512" y="0"/>
                  <a:pt x="304800" y="68288"/>
                  <a:pt x="304800" y="152400"/>
                </a:cubicBezTo>
                <a:cubicBezTo>
                  <a:pt x="304800" y="236512"/>
                  <a:pt x="236512" y="304800"/>
                  <a:pt x="152400" y="304800"/>
                </a:cubicBezTo>
                <a:cubicBezTo>
                  <a:pt x="68288" y="304800"/>
                  <a:pt x="0" y="236512"/>
                  <a:pt x="0" y="152400"/>
                </a:cubicBezTo>
                <a:cubicBezTo>
                  <a:pt x="0" y="68288"/>
                  <a:pt x="68288" y="0"/>
                  <a:pt x="152400" y="0"/>
                </a:cubicBezTo>
                <a:close/>
                <a:moveTo>
                  <a:pt x="138113" y="71438"/>
                </a:moveTo>
                <a:lnTo>
                  <a:pt x="138113" y="152400"/>
                </a:lnTo>
                <a:cubicBezTo>
                  <a:pt x="138113" y="157163"/>
                  <a:pt x="140494" y="161627"/>
                  <a:pt x="144482" y="164306"/>
                </a:cubicBezTo>
                <a:lnTo>
                  <a:pt x="201632" y="202406"/>
                </a:lnTo>
                <a:cubicBezTo>
                  <a:pt x="208181" y="206812"/>
                  <a:pt x="217051" y="205026"/>
                  <a:pt x="221456" y="198418"/>
                </a:cubicBezTo>
                <a:cubicBezTo>
                  <a:pt x="225862" y="191810"/>
                  <a:pt x="224076" y="182999"/>
                  <a:pt x="217468" y="178594"/>
                </a:cubicBezTo>
                <a:lnTo>
                  <a:pt x="166688" y="144780"/>
                </a:lnTo>
                <a:lnTo>
                  <a:pt x="166688" y="71438"/>
                </a:lnTo>
                <a:cubicBezTo>
                  <a:pt x="166688" y="63520"/>
                  <a:pt x="160318" y="57150"/>
                  <a:pt x="152400" y="57150"/>
                </a:cubicBezTo>
                <a:cubicBezTo>
                  <a:pt x="144482" y="57150"/>
                  <a:pt x="138113" y="63520"/>
                  <a:pt x="138113" y="71438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25" name="Text 23"/>
          <p:cNvSpPr/>
          <p:nvPr/>
        </p:nvSpPr>
        <p:spPr>
          <a:xfrm>
            <a:off x="10922000" y="6096000"/>
            <a:ext cx="4318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Dwell Time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Abandoners: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18.86s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Purchasers: </a:t>
            </a:r>
            <a:pPr algn="l">
              <a:lnSpc>
                <a:spcPct val="16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19.52s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Same engagement level — rules out disengagement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07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397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High-Income Customers Spend </a:t>
            </a:r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7x More</a:t>
            </a:r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; Loyalty Paradox Revealed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Text 2"/>
          <p:cNvSpPr/>
          <p:nvPr/>
        </p:nvSpPr>
        <p:spPr>
          <a:xfrm>
            <a:off x="762000" y="13970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Value by Income Level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62000" y="1841500"/>
          <a:ext cx="6858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5143500"/>
            <a:ext cx="6858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6000" y="53086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Loyalty Paradox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16000" y="5715000"/>
            <a:ext cx="6350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Bronze-tier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customers (largest base) drive majority revenue by sheer volume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Platinum-tier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spends most per transaction: $85 avg vs. $28 Bronze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Income is a 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stronger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spending differentiator than loyalty tier alone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0" y="1397000"/>
            <a:ext cx="444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Rating Distribution</a:t>
            </a:r>
            <a:endParaRPr lang="en-US" sz="1600" dirty="0"/>
          </a:p>
        </p:txBody>
      </p:sp>
      <p:graphicFrame>
        <p:nvGraphicFramePr>
          <p:cNvPr id="10" name="Chart 1" descr=""/>
          <p:cNvGraphicFramePr/>
          <p:nvPr/>
        </p:nvGraphicFramePr>
        <p:xfrm>
          <a:off x="8128000" y="1841500"/>
          <a:ext cx="7366000" cy="304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8128000" y="5143500"/>
            <a:ext cx="7366000" cy="2667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382000" y="5308600"/>
            <a:ext cx="444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Catalog Health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382000" y="5715000"/>
            <a:ext cx="68580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4.17 / 5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average rating across 1,253 reviews</a:t>
            </a:r>
            <a:endParaRPr lang="en-US" sz="1400" dirty="0"/>
          </a:p>
          <a:p>
            <a:pPr algn="l">
              <a:lnSpc>
                <a:spcPct val="170000"/>
              </a:lnSpc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74.3%</a:t>
            </a:r>
            <a:pPr algn="l">
              <a:lnSpc>
                <a:spcPct val="17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reviews are 4- or 5-star (healthy trust)</a:t>
            </a:r>
            <a:endParaRPr lang="en-US" sz="1400" dirty="0"/>
          </a:p>
          <a:p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30.6%</a:t>
            </a:r>
            <a:pPr algn="l">
              <a:lnSpc>
                <a:spcPct val="170000"/>
              </a:lnSpc>
              <a:spcBef>
                <a:spcPts val="6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registered users have zero interactions — cold-start constraint for recommendation systems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15" name="Text 1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08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508000"/>
            <a:ext cx="1270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Four-Page Power BI Dashboard with </a:t>
            </a:r>
            <a:pPr algn="l">
              <a:lnSpc>
                <a:spcPct val="130000"/>
              </a:lnSpc>
            </a:pPr>
            <a:r>
              <a:rPr lang="en-US" sz="2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50+</a:t>
            </a:r>
            <a:pPr algn="l">
              <a:lnSpc>
                <a:spcPct val="130000"/>
              </a:lnSpc>
            </a:pPr>
            <a:r>
              <a:rPr lang="en-US" sz="28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DAX Measures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4" name="Shape 2"/>
          <p:cNvSpPr/>
          <p:nvPr/>
        </p:nvSpPr>
        <p:spPr>
          <a:xfrm>
            <a:off x="762000" y="1397000"/>
            <a:ext cx="71755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2000" y="1397000"/>
            <a:ext cx="7175500" cy="63500"/>
          </a:xfrm>
          <a:prstGeom prst="rect">
            <a:avLst/>
          </a:prstGeom>
          <a:solidFill>
            <a:srgbClr val="0D7377"/>
          </a:solidFill>
          <a:ln/>
        </p:spPr>
      </p:sp>
      <p:sp>
        <p:nvSpPr>
          <p:cNvPr id="6" name="Shape 4"/>
          <p:cNvSpPr/>
          <p:nvPr/>
        </p:nvSpPr>
        <p:spPr>
          <a:xfrm>
            <a:off x="10795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177800"/>
                </a:moveTo>
                <a:cubicBezTo>
                  <a:pt x="0" y="79670"/>
                  <a:pt x="79670" y="0"/>
                  <a:pt x="177800" y="0"/>
                </a:cubicBezTo>
                <a:cubicBezTo>
                  <a:pt x="275930" y="0"/>
                  <a:pt x="355600" y="79670"/>
                  <a:pt x="355600" y="177800"/>
                </a:cubicBezTo>
                <a:cubicBezTo>
                  <a:pt x="355600" y="275930"/>
                  <a:pt x="275930" y="355600"/>
                  <a:pt x="177800" y="355600"/>
                </a:cubicBezTo>
                <a:cubicBezTo>
                  <a:pt x="79670" y="355600"/>
                  <a:pt x="0" y="275930"/>
                  <a:pt x="0" y="177800"/>
                </a:cubicBezTo>
                <a:close/>
                <a:moveTo>
                  <a:pt x="200025" y="66675"/>
                </a:moveTo>
                <a:cubicBezTo>
                  <a:pt x="200025" y="54409"/>
                  <a:pt x="190066" y="44450"/>
                  <a:pt x="177800" y="44450"/>
                </a:cubicBezTo>
                <a:cubicBezTo>
                  <a:pt x="165534" y="44450"/>
                  <a:pt x="155575" y="54409"/>
                  <a:pt x="155575" y="66675"/>
                </a:cubicBezTo>
                <a:cubicBezTo>
                  <a:pt x="155575" y="78941"/>
                  <a:pt x="165534" y="88900"/>
                  <a:pt x="177800" y="88900"/>
                </a:cubicBezTo>
                <a:cubicBezTo>
                  <a:pt x="190066" y="88900"/>
                  <a:pt x="200025" y="78941"/>
                  <a:pt x="200025" y="66675"/>
                </a:cubicBezTo>
                <a:close/>
                <a:moveTo>
                  <a:pt x="177800" y="288925"/>
                </a:moveTo>
                <a:cubicBezTo>
                  <a:pt x="202317" y="288925"/>
                  <a:pt x="222250" y="268992"/>
                  <a:pt x="222250" y="244475"/>
                </a:cubicBezTo>
                <a:cubicBezTo>
                  <a:pt x="222250" y="233224"/>
                  <a:pt x="218083" y="222875"/>
                  <a:pt x="211138" y="215096"/>
                </a:cubicBezTo>
                <a:lnTo>
                  <a:pt x="259407" y="118626"/>
                </a:lnTo>
                <a:cubicBezTo>
                  <a:pt x="263505" y="110361"/>
                  <a:pt x="260171" y="100360"/>
                  <a:pt x="251976" y="96262"/>
                </a:cubicBezTo>
                <a:cubicBezTo>
                  <a:pt x="243780" y="92164"/>
                  <a:pt x="233710" y="95498"/>
                  <a:pt x="229612" y="103694"/>
                </a:cubicBezTo>
                <a:lnTo>
                  <a:pt x="181342" y="200164"/>
                </a:lnTo>
                <a:cubicBezTo>
                  <a:pt x="180161" y="200094"/>
                  <a:pt x="178981" y="200025"/>
                  <a:pt x="177800" y="200025"/>
                </a:cubicBezTo>
                <a:cubicBezTo>
                  <a:pt x="153283" y="200025"/>
                  <a:pt x="133350" y="219958"/>
                  <a:pt x="133350" y="244475"/>
                </a:cubicBezTo>
                <a:cubicBezTo>
                  <a:pt x="133350" y="268992"/>
                  <a:pt x="153283" y="288925"/>
                  <a:pt x="177800" y="288925"/>
                </a:cubicBezTo>
                <a:close/>
                <a:moveTo>
                  <a:pt x="122238" y="100013"/>
                </a:moveTo>
                <a:cubicBezTo>
                  <a:pt x="122238" y="87746"/>
                  <a:pt x="112279" y="77788"/>
                  <a:pt x="100013" y="77788"/>
                </a:cubicBezTo>
                <a:cubicBezTo>
                  <a:pt x="87746" y="77788"/>
                  <a:pt x="77788" y="87746"/>
                  <a:pt x="77788" y="100013"/>
                </a:cubicBezTo>
                <a:cubicBezTo>
                  <a:pt x="77788" y="112279"/>
                  <a:pt x="87746" y="122238"/>
                  <a:pt x="100013" y="122238"/>
                </a:cubicBezTo>
                <a:cubicBezTo>
                  <a:pt x="112279" y="122238"/>
                  <a:pt x="122238" y="112279"/>
                  <a:pt x="122238" y="100013"/>
                </a:cubicBezTo>
                <a:close/>
                <a:moveTo>
                  <a:pt x="66675" y="200025"/>
                </a:moveTo>
                <a:cubicBezTo>
                  <a:pt x="78941" y="200025"/>
                  <a:pt x="88900" y="190066"/>
                  <a:pt x="88900" y="177800"/>
                </a:cubicBez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lose/>
                <a:moveTo>
                  <a:pt x="311150" y="177800"/>
                </a:moveTo>
                <a:cubicBezTo>
                  <a:pt x="311150" y="165534"/>
                  <a:pt x="301191" y="155575"/>
                  <a:pt x="288925" y="155575"/>
                </a:cubicBezTo>
                <a:cubicBezTo>
                  <a:pt x="276659" y="155575"/>
                  <a:pt x="266700" y="165534"/>
                  <a:pt x="266700" y="177800"/>
                </a:cubicBezTo>
                <a:cubicBezTo>
                  <a:pt x="266700" y="190066"/>
                  <a:pt x="276659" y="200025"/>
                  <a:pt x="288925" y="200025"/>
                </a:cubicBezTo>
                <a:cubicBezTo>
                  <a:pt x="301191" y="200025"/>
                  <a:pt x="311150" y="190066"/>
                  <a:pt x="311150" y="177800"/>
                </a:cubicBezTo>
                <a:close/>
              </a:path>
            </a:pathLst>
          </a:custGeom>
          <a:solidFill>
            <a:srgbClr val="0D7377"/>
          </a:solidFill>
          <a:ln/>
        </p:spPr>
      </p:sp>
      <p:sp>
        <p:nvSpPr>
          <p:cNvPr id="7" name="Text 5"/>
          <p:cNvSpPr/>
          <p:nvPr/>
        </p:nvSpPr>
        <p:spPr>
          <a:xfrm>
            <a:off x="1587500" y="171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Overview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79500" y="22225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High-level health check for stakeholders: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KPIs: Total Revenue, Total Orders, Conversion Rate, Cart Abandonment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Monthly revenue trend line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Revenue by category bar chart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Conversion by referrer source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0D737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Device distribution donut chart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318500" y="1397000"/>
            <a:ext cx="7175500" cy="3175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318500" y="1397000"/>
            <a:ext cx="7175500" cy="635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11" name="Shape 9"/>
          <p:cNvSpPr/>
          <p:nvPr/>
        </p:nvSpPr>
        <p:spPr>
          <a:xfrm>
            <a:off x="8636000" y="1714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2225" y="44450"/>
                </a:moveTo>
                <a:cubicBezTo>
                  <a:pt x="13266" y="44450"/>
                  <a:pt x="5140" y="49867"/>
                  <a:pt x="1667" y="58202"/>
                </a:cubicBezTo>
                <a:cubicBezTo>
                  <a:pt x="-1806" y="66536"/>
                  <a:pt x="139" y="76051"/>
                  <a:pt x="6529" y="82371"/>
                </a:cubicBezTo>
                <a:lnTo>
                  <a:pt x="133350" y="209262"/>
                </a:lnTo>
                <a:lnTo>
                  <a:pt x="133350" y="288925"/>
                </a:lnTo>
                <a:cubicBezTo>
                  <a:pt x="133350" y="294829"/>
                  <a:pt x="135711" y="300454"/>
                  <a:pt x="139879" y="304621"/>
                </a:cubicBezTo>
                <a:lnTo>
                  <a:pt x="184329" y="349071"/>
                </a:lnTo>
                <a:cubicBezTo>
                  <a:pt x="190718" y="355461"/>
                  <a:pt x="200233" y="357336"/>
                  <a:pt x="208568" y="353864"/>
                </a:cubicBezTo>
                <a:cubicBezTo>
                  <a:pt x="216902" y="350391"/>
                  <a:pt x="222250" y="342334"/>
                  <a:pt x="222250" y="333375"/>
                </a:cubicBezTo>
                <a:lnTo>
                  <a:pt x="222250" y="209262"/>
                </a:lnTo>
                <a:lnTo>
                  <a:pt x="349071" y="82441"/>
                </a:lnTo>
                <a:cubicBezTo>
                  <a:pt x="355461" y="76051"/>
                  <a:pt x="357336" y="66536"/>
                  <a:pt x="353864" y="58202"/>
                </a:cubicBezTo>
                <a:cubicBezTo>
                  <a:pt x="350391" y="49867"/>
                  <a:pt x="342334" y="44450"/>
                  <a:pt x="333375" y="44450"/>
                </a:cubicBezTo>
                <a:lnTo>
                  <a:pt x="22225" y="44450"/>
                </a:lnTo>
                <a:close/>
              </a:path>
            </a:pathLst>
          </a:custGeom>
          <a:solidFill>
            <a:srgbClr val="B87333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0" y="1714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Funnel &amp; Marketing Analysis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636000" y="2222500"/>
            <a:ext cx="6604000" cy="215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 journey and channel performance: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Full sales funnel visualization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Revenue vs. conversion by channel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Channel efficiency (revenue per session) ranking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Device-by-referrer cross-tab heatmap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B8733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Buyer profile cards per channel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62000" y="4953000"/>
            <a:ext cx="71755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2000" y="4953000"/>
            <a:ext cx="7175500" cy="6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" y="527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0" y="5556"/>
                </a:moveTo>
                <a:cubicBezTo>
                  <a:pt x="0" y="-3681"/>
                  <a:pt x="5945" y="-11112"/>
                  <a:pt x="13335" y="-11112"/>
                </a:cubicBezTo>
                <a:lnTo>
                  <a:pt x="38505" y="-11112"/>
                </a:lnTo>
                <a:cubicBezTo>
                  <a:pt x="53562" y="-11112"/>
                  <a:pt x="66453" y="2361"/>
                  <a:pt x="69120" y="20836"/>
                </a:cubicBezTo>
                <a:lnTo>
                  <a:pt x="69342" y="22225"/>
                </a:lnTo>
                <a:lnTo>
                  <a:pt x="173355" y="22225"/>
                </a:lnTo>
                <a:lnTo>
                  <a:pt x="173355" y="93137"/>
                </a:lnTo>
                <a:lnTo>
                  <a:pt x="156131" y="71606"/>
                </a:lnTo>
                <a:cubicBezTo>
                  <a:pt x="150908" y="65078"/>
                  <a:pt x="142462" y="65078"/>
                  <a:pt x="137295" y="71606"/>
                </a:cubicBezTo>
                <a:cubicBezTo>
                  <a:pt x="132128" y="78135"/>
                  <a:pt x="132072" y="88692"/>
                  <a:pt x="137295" y="95151"/>
                </a:cubicBezTo>
                <a:lnTo>
                  <a:pt x="177300" y="145157"/>
                </a:lnTo>
                <a:cubicBezTo>
                  <a:pt x="182523" y="151686"/>
                  <a:pt x="190968" y="151686"/>
                  <a:pt x="196136" y="145157"/>
                </a:cubicBezTo>
                <a:lnTo>
                  <a:pt x="236141" y="95151"/>
                </a:lnTo>
                <a:cubicBezTo>
                  <a:pt x="241363" y="88622"/>
                  <a:pt x="241363" y="78065"/>
                  <a:pt x="236141" y="71606"/>
                </a:cubicBezTo>
                <a:cubicBezTo>
                  <a:pt x="230918" y="65147"/>
                  <a:pt x="222472" y="65078"/>
                  <a:pt x="217305" y="71606"/>
                </a:cubicBezTo>
                <a:lnTo>
                  <a:pt x="200081" y="93137"/>
                </a:lnTo>
                <a:lnTo>
                  <a:pt x="200081" y="22225"/>
                </a:lnTo>
                <a:lnTo>
                  <a:pt x="298648" y="22225"/>
                </a:lnTo>
                <a:cubicBezTo>
                  <a:pt x="309761" y="22225"/>
                  <a:pt x="318151" y="34865"/>
                  <a:pt x="316095" y="48548"/>
                </a:cubicBezTo>
                <a:lnTo>
                  <a:pt x="298815" y="163770"/>
                </a:lnTo>
                <a:cubicBezTo>
                  <a:pt x="295648" y="184815"/>
                  <a:pt x="280980" y="200025"/>
                  <a:pt x="263866" y="200025"/>
                </a:cubicBezTo>
                <a:lnTo>
                  <a:pt x="95179" y="200025"/>
                </a:lnTo>
                <a:lnTo>
                  <a:pt x="98012" y="219680"/>
                </a:lnTo>
                <a:cubicBezTo>
                  <a:pt x="99179" y="227598"/>
                  <a:pt x="104680" y="233363"/>
                  <a:pt x="111125" y="233363"/>
                </a:cubicBezTo>
                <a:lnTo>
                  <a:pt x="253365" y="233363"/>
                </a:lnTo>
                <a:cubicBezTo>
                  <a:pt x="260755" y="233363"/>
                  <a:pt x="266700" y="240794"/>
                  <a:pt x="266700" y="250031"/>
                </a:cubicBezTo>
                <a:cubicBezTo>
                  <a:pt x="266700" y="259269"/>
                  <a:pt x="260755" y="266700"/>
                  <a:pt x="253365" y="266700"/>
                </a:cubicBezTo>
                <a:lnTo>
                  <a:pt x="111181" y="266700"/>
                </a:lnTo>
                <a:cubicBezTo>
                  <a:pt x="91845" y="266700"/>
                  <a:pt x="75287" y="249406"/>
                  <a:pt x="71842" y="225653"/>
                </a:cubicBezTo>
                <a:lnTo>
                  <a:pt x="42894" y="26809"/>
                </a:lnTo>
                <a:cubicBezTo>
                  <a:pt x="42505" y="24170"/>
                  <a:pt x="40672" y="22225"/>
                  <a:pt x="38505" y="22225"/>
                </a:cubicBezTo>
                <a:lnTo>
                  <a:pt x="13335" y="22225"/>
                </a:lnTo>
                <a:cubicBezTo>
                  <a:pt x="5945" y="22225"/>
                  <a:pt x="0" y="14794"/>
                  <a:pt x="0" y="5556"/>
                </a:cubicBezTo>
                <a:close/>
                <a:moveTo>
                  <a:pt x="88900" y="322263"/>
                </a:moveTo>
                <a:cubicBezTo>
                  <a:pt x="88900" y="303863"/>
                  <a:pt x="100850" y="288925"/>
                  <a:pt x="115570" y="288925"/>
                </a:cubicBezTo>
                <a:cubicBezTo>
                  <a:pt x="130290" y="288925"/>
                  <a:pt x="142240" y="303863"/>
                  <a:pt x="142240" y="322263"/>
                </a:cubicBezTo>
                <a:cubicBezTo>
                  <a:pt x="142240" y="340662"/>
                  <a:pt x="130290" y="355600"/>
                  <a:pt x="115570" y="355600"/>
                </a:cubicBezTo>
                <a:cubicBezTo>
                  <a:pt x="100850" y="355600"/>
                  <a:pt x="88900" y="340662"/>
                  <a:pt x="88900" y="322263"/>
                </a:cubicBezTo>
                <a:close/>
                <a:moveTo>
                  <a:pt x="213360" y="322263"/>
                </a:moveTo>
                <a:cubicBezTo>
                  <a:pt x="213360" y="303863"/>
                  <a:pt x="225310" y="288925"/>
                  <a:pt x="240030" y="288925"/>
                </a:cubicBezTo>
                <a:cubicBezTo>
                  <a:pt x="254750" y="288925"/>
                  <a:pt x="266700" y="303863"/>
                  <a:pt x="266700" y="322263"/>
                </a:cubicBezTo>
                <a:cubicBezTo>
                  <a:pt x="266700" y="340662"/>
                  <a:pt x="254750" y="355600"/>
                  <a:pt x="240030" y="355600"/>
                </a:cubicBezTo>
                <a:cubicBezTo>
                  <a:pt x="225310" y="355600"/>
                  <a:pt x="213360" y="340662"/>
                  <a:pt x="213360" y="322263"/>
                </a:cubicBezTo>
                <a:close/>
              </a:path>
            </a:pathLst>
          </a:custGeom>
          <a:solidFill>
            <a:srgbClr val="DC2626"/>
          </a:solidFill>
          <a:ln/>
        </p:spPr>
      </p:sp>
      <p:sp>
        <p:nvSpPr>
          <p:cNvPr id="17" name="Text 15"/>
          <p:cNvSpPr/>
          <p:nvPr/>
        </p:nvSpPr>
        <p:spPr>
          <a:xfrm>
            <a:off x="1587500" y="527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Abandonment Analysis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79500" y="57785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Primary loss-recovery page: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Abandonment by category and by device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Purchased vs. abandoned price comparison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Customer segment breakdown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DC262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Top-abandoned-products retargeting table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318500" y="4953000"/>
            <a:ext cx="7175500" cy="2921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2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18500" y="4953000"/>
            <a:ext cx="7175500" cy="6350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21" name="Shape 19"/>
          <p:cNvSpPr/>
          <p:nvPr/>
        </p:nvSpPr>
        <p:spPr>
          <a:xfrm>
            <a:off x="8636000" y="527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91073" y="-13127"/>
                </a:moveTo>
                <a:cubicBezTo>
                  <a:pt x="188542" y="-18683"/>
                  <a:pt x="183418" y="-22225"/>
                  <a:pt x="177862" y="-22225"/>
                </a:cubicBezTo>
                <a:cubicBezTo>
                  <a:pt x="172305" y="-22225"/>
                  <a:pt x="167181" y="-18683"/>
                  <a:pt x="164650" y="-13127"/>
                </a:cubicBezTo>
                <a:lnTo>
                  <a:pt x="119212" y="87025"/>
                </a:lnTo>
                <a:lnTo>
                  <a:pt x="20496" y="104666"/>
                </a:lnTo>
                <a:cubicBezTo>
                  <a:pt x="15002" y="105638"/>
                  <a:pt x="10433" y="110014"/>
                  <a:pt x="8705" y="115987"/>
                </a:cubicBezTo>
                <a:cubicBezTo>
                  <a:pt x="6976" y="121960"/>
                  <a:pt x="8396" y="128488"/>
                  <a:pt x="12285" y="132933"/>
                </a:cubicBezTo>
                <a:lnTo>
                  <a:pt x="82912" y="212457"/>
                </a:lnTo>
                <a:lnTo>
                  <a:pt x="67354" y="323513"/>
                </a:lnTo>
                <a:cubicBezTo>
                  <a:pt x="66490" y="329694"/>
                  <a:pt x="68774" y="335945"/>
                  <a:pt x="73281" y="339626"/>
                </a:cubicBezTo>
                <a:cubicBezTo>
                  <a:pt x="77788" y="343307"/>
                  <a:pt x="83714" y="343862"/>
                  <a:pt x="88715" y="341015"/>
                </a:cubicBezTo>
                <a:lnTo>
                  <a:pt x="177862" y="290036"/>
                </a:lnTo>
                <a:lnTo>
                  <a:pt x="266947" y="341015"/>
                </a:lnTo>
                <a:cubicBezTo>
                  <a:pt x="271886" y="343862"/>
                  <a:pt x="277874" y="343307"/>
                  <a:pt x="282381" y="339626"/>
                </a:cubicBezTo>
                <a:cubicBezTo>
                  <a:pt x="286888" y="335945"/>
                  <a:pt x="289172" y="329763"/>
                  <a:pt x="288308" y="323513"/>
                </a:cubicBezTo>
                <a:lnTo>
                  <a:pt x="272688" y="212457"/>
                </a:lnTo>
                <a:lnTo>
                  <a:pt x="343315" y="132933"/>
                </a:lnTo>
                <a:cubicBezTo>
                  <a:pt x="347266" y="128488"/>
                  <a:pt x="348624" y="121960"/>
                  <a:pt x="346895" y="115987"/>
                </a:cubicBezTo>
                <a:cubicBezTo>
                  <a:pt x="345167" y="110014"/>
                  <a:pt x="340660" y="105638"/>
                  <a:pt x="335104" y="104666"/>
                </a:cubicBezTo>
                <a:lnTo>
                  <a:pt x="236449" y="87025"/>
                </a:lnTo>
                <a:lnTo>
                  <a:pt x="191073" y="-13127"/>
                </a:lnTo>
                <a:close/>
              </a:path>
            </a:pathLst>
          </a:custGeom>
          <a:solidFill>
            <a:srgbClr val="475569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5270500"/>
            <a:ext cx="444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800" b="1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&amp; Review Analysis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636000" y="5778500"/>
            <a:ext cx="6604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 strategy and satisfaction:</a:t>
            </a:r>
            <a:endParaRPr lang="en-US" sz="1400" dirty="0"/>
          </a:p>
          <a:p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  <a:spcBef>
                <a:spcPts val="400"/>
              </a:spcBef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Top products by revenue table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Rating distribution chart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Category efficiency (organic delta)</a:t>
            </a:r>
            <a:endParaRPr lang="en-US" sz="1400" dirty="0"/>
          </a:p>
          <a:p>
            <a:pPr algn="l">
              <a:lnSpc>
                <a:spcPct val="160000"/>
              </a:lnSpc>
            </a:pPr>
            <a:r>
              <a:rPr lang="en-US" sz="1400" dirty="0">
                <a:solidFill>
                  <a:srgbClr val="47556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•</a:t>
            </a:r>
            <a:pPr algn="l">
              <a:lnSpc>
                <a:spcPct val="160000"/>
              </a:lnSpc>
            </a:pPr>
            <a:r>
              <a:rPr lang="en-US" sz="1400" dirty="0">
                <a:solidFill>
                  <a:srgbClr val="1A1D2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Revenue by loyalty tier &amp; income level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2000" y="8026400"/>
            <a:ext cx="14732000" cy="304800"/>
          </a:xfrm>
          <a:prstGeom prst="rect">
            <a:avLst/>
          </a:prstGeom>
          <a:solidFill>
            <a:srgbClr val="0D7377">
              <a:alpha val="8235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1016000" y="8026400"/>
            <a:ext cx="1422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200" b="1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QA Note:</a:t>
            </a:r>
            <a:pPr algn="l">
              <a:lnSpc>
                <a:spcPct val="12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Session Conversion Rate error caught (71.64% → 7.46% corrected) and inactive table relationship validated during development.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E2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6F7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09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6ddgir76id4kw/mnt/agents/output/ecommerce_report/images/cover_hero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rcRect l="0" r="0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000" y="508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200" spc="200" kern="0" dirty="0">
                <a:solidFill>
                  <a:srgbClr val="F5F4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Strategic Recommendations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2000" y="1079500"/>
            <a:ext cx="1016000" cy="381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5" name="Shape 2"/>
          <p:cNvSpPr/>
          <p:nvPr/>
        </p:nvSpPr>
        <p:spPr>
          <a:xfrm>
            <a:off x="762000" y="1397000"/>
            <a:ext cx="4699000" cy="2095500"/>
          </a:xfrm>
          <a:prstGeom prst="rect">
            <a:avLst/>
          </a:prstGeom>
          <a:solidFill>
            <a:srgbClr val="F5F4F2">
              <a:alpha val="3137"/>
            </a:srgbClr>
          </a:solidFill>
          <a:ln w="12700">
            <a:solidFill>
              <a:srgbClr val="F5F4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" y="1524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B8733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01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1778000" y="1524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Cart Recovery Campaigns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16000" y="20066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Launch targeted abandoned-cart email and retargeting campaigns. Prioritize high-intent abandoners (5+ cart events) as the most recoverable segment.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0" y="1397000"/>
            <a:ext cx="4699000" cy="2095500"/>
          </a:xfrm>
          <a:prstGeom prst="rect">
            <a:avLst/>
          </a:prstGeom>
          <a:solidFill>
            <a:srgbClr val="F5F4F2">
              <a:alpha val="3137"/>
            </a:srgbClr>
          </a:solidFill>
          <a:ln w="12700">
            <a:solidFill>
              <a:srgbClr val="F5F4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69000" y="1524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B8733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02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731000" y="15240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Mobile Checkout Optimization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69000" y="20066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Invest in mobile checkout UX research — page load speed, form friction, and payment options — to reduce the 73.25% abandonment rate.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668000" y="1397000"/>
            <a:ext cx="4826000" cy="2095500"/>
          </a:xfrm>
          <a:prstGeom prst="rect">
            <a:avLst/>
          </a:prstGeom>
          <a:solidFill>
            <a:srgbClr val="F5F4F2">
              <a:alpha val="3137"/>
            </a:srgbClr>
          </a:solidFill>
          <a:ln w="12700">
            <a:solidFill>
              <a:srgbClr val="F5F4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22000" y="15240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B87333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03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11684000" y="1524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Channel Budget Reallocation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0922000" y="20066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Treat organic search and display ads as complementary: organic for revenue scale, display for conversion efficiency. Incrementally increase display spend.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62000" y="3746500"/>
            <a:ext cx="4699000" cy="2095500"/>
          </a:xfrm>
          <a:prstGeom prst="rect">
            <a:avLst/>
          </a:prstGeom>
          <a:solidFill>
            <a:srgbClr val="F5F4F2">
              <a:alpha val="3137"/>
            </a:srgbClr>
          </a:solidFill>
          <a:ln w="12700">
            <a:solidFill>
              <a:srgbClr val="F5F4F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016000" y="38735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04</a:t>
            </a:r>
            <a:endParaRPr lang="en-US" sz="2400" dirty="0"/>
          </a:p>
        </p:txBody>
      </p:sp>
      <p:sp>
        <p:nvSpPr>
          <p:cNvPr id="19" name="Text 16"/>
          <p:cNvSpPr/>
          <p:nvPr/>
        </p:nvSpPr>
        <p:spPr>
          <a:xfrm>
            <a:off x="1778000" y="3873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Category-Specific Marketing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16000" y="43561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Shift Electronics marketing toward paid and direct channels where it converts best. Leverage organic content strategy for Home &amp; Kitchen.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715000" y="3746500"/>
            <a:ext cx="4699000" cy="2095500"/>
          </a:xfrm>
          <a:prstGeom prst="rect">
            <a:avLst/>
          </a:prstGeom>
          <a:solidFill>
            <a:srgbClr val="F5F4F2">
              <a:alpha val="3137"/>
            </a:srgbClr>
          </a:solidFill>
          <a:ln w="12700">
            <a:solidFill>
              <a:srgbClr val="F5F4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969000" y="38735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05</a:t>
            </a:r>
            <a:endParaRPr lang="en-US" sz="2400" dirty="0"/>
          </a:p>
        </p:txBody>
      </p:sp>
      <p:sp>
        <p:nvSpPr>
          <p:cNvPr id="23" name="Text 20"/>
          <p:cNvSpPr/>
          <p:nvPr/>
        </p:nvSpPr>
        <p:spPr>
          <a:xfrm>
            <a:off x="6731000" y="3873500"/>
            <a:ext cx="3429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Premium Segment Programs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5969000" y="4356100"/>
            <a:ext cx="4191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a concierge loyalty tier for very-high-income customers whose 7x spending multiplier represents the highest-leverage segment.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668000" y="3746500"/>
            <a:ext cx="4826000" cy="2095500"/>
          </a:xfrm>
          <a:prstGeom prst="rect">
            <a:avLst/>
          </a:prstGeom>
          <a:solidFill>
            <a:srgbClr val="F5F4F2">
              <a:alpha val="3137"/>
            </a:srgbClr>
          </a:solidFill>
          <a:ln w="12700">
            <a:solidFill>
              <a:srgbClr val="F5F4F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22000" y="3873500"/>
            <a:ext cx="6985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2400" dirty="0">
                <a:solidFill>
                  <a:srgbClr val="0D7377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06</a:t>
            </a:r>
            <a:endParaRPr lang="en-US" sz="2400" dirty="0"/>
          </a:p>
        </p:txBody>
      </p:sp>
      <p:sp>
        <p:nvSpPr>
          <p:cNvPr id="27" name="Text 24"/>
          <p:cNvSpPr/>
          <p:nvPr/>
        </p:nvSpPr>
        <p:spPr>
          <a:xfrm>
            <a:off x="11684000" y="38735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500" b="1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Review Generation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10922000" y="4356100"/>
            <a:ext cx="431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ct val="160000"/>
              </a:lnSpc>
            </a:pPr>
            <a:r>
              <a:rPr lang="en-US" sz="13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 review-volume growth via post-purchase prompts. Strong 4.17/5 average means the opportunity is visibility, not reputation repair.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58000" y="6350000"/>
            <a:ext cx="2540000" cy="25400"/>
          </a:xfrm>
          <a:prstGeom prst="rect">
            <a:avLst/>
          </a:prstGeom>
          <a:solidFill>
            <a:srgbClr val="B87333"/>
          </a:solidFill>
          <a:ln/>
        </p:spPr>
      </p:sp>
      <p:sp>
        <p:nvSpPr>
          <p:cNvPr id="30" name="Text 27"/>
          <p:cNvSpPr/>
          <p:nvPr/>
        </p:nvSpPr>
        <p:spPr>
          <a:xfrm>
            <a:off x="4318000" y="6604000"/>
            <a:ext cx="762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2800" spc="300" kern="0" dirty="0">
                <a:solidFill>
                  <a:srgbClr val="F5F4F2"/>
                </a:solidFill>
                <a:latin typeface="Oranienbaum" pitchFamily="34" charset="0"/>
                <a:ea typeface="Oranienbaum" pitchFamily="34" charset="-122"/>
                <a:cs typeface="Oranienbaum" pitchFamily="34" charset="-120"/>
              </a:rPr>
              <a:t>Data-Driven Decisions Start Here</a:t>
            </a:r>
            <a:endParaRPr lang="en-US" sz="2800" dirty="0"/>
          </a:p>
        </p:txBody>
      </p:sp>
      <p:sp>
        <p:nvSpPr>
          <p:cNvPr id="31" name="Text 28"/>
          <p:cNvSpPr/>
          <p:nvPr/>
        </p:nvSpPr>
        <p:spPr>
          <a:xfrm>
            <a:off x="5588000" y="7366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4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Ismail Olamide Abdulrazaq (Holarbrain)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5588000" y="7747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200" u="sng" dirty="0">
                <a:solidFill>
                  <a:srgbClr val="0D7377"/>
                </a:solidFill>
                <a:uFill>
                  <a:solidFill>
                    <a:srgbClr val="0D7377"/>
                  </a:solidFill>
                </a:uFill>
                <a:latin typeface="Liter" pitchFamily="34" charset="0"/>
                <a:ea typeface="Liter" pitchFamily="34" charset="-122"/>
                <a:cs typeface="Liter" pitchFamily="34" charset="-120"/>
                <a:hlinkClick r:id="rId2" tooltip="" action="ppaction://hlinkfil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holarbrain.github.io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762000" y="8382000"/>
            <a:ext cx="14732000" cy="12700"/>
          </a:xfrm>
          <a:prstGeom prst="rect">
            <a:avLst/>
          </a:prstGeom>
          <a:solidFill>
            <a:srgbClr val="F5F4F2">
              <a:alpha val="12549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14732000" y="86360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F5F4F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 / 10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Product Intelligence</dc:title>
  <dc:subject>E-Commerce Product Intelligence</dc:subject>
  <dc:creator>Kimi</dc:creator>
  <cp:lastModifiedBy>Kimi</cp:lastModifiedBy>
  <cp:revision>1</cp:revision>
  <dcterms:created xsi:type="dcterms:W3CDTF">2026-06-26T13:21:39Z</dcterms:created>
  <dcterms:modified xsi:type="dcterms:W3CDTF">2026-06-26T13:21:39Z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{"Label":"E-Commerce Product Intelligence","ContentProducer":"001191110108MACG2KBH8F10000","ProduceID":"19f0411b-cbb2-8235-8000-0000119192b0","ReservedCode1":"","ContentPropagator":"001191110108MACG2KBH8F20000","PropagateID":"19f04059-d5d2-85d7-8000-09bf31022e39","ReservedCode2":""}</vt:lpwstr>
  </property>
</Properties>
</file>